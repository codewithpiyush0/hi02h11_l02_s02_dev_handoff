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4_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10E_0.xml" ContentType="application/vnd.ms-powerpoint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6" r:id="rId18"/>
    <p:sldId id="275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F5DBAF-01EC-512B-712B-FD3520EFE51E}" name="Aamir ." initials="A." userId="efe38d6d2b80534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570" autoAdjust="0"/>
  </p:normalViewPr>
  <p:slideViewPr>
    <p:cSldViewPr snapToGrid="0" snapToObjects="1">
      <p:cViewPr varScale="1">
        <p:scale>
          <a:sx n="65" d="100"/>
          <a:sy n="65" d="100"/>
        </p:scale>
        <p:origin x="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1C9F1F0-1014-493D-B2EA-F6916EFC87A0}" authorId="{ABF5DBAF-01EC-512B-712B-FD3520EFE51E}" status="resolved" created="2026-09-22T10:40:52.18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0"/>
      <ac:picMk id="3" creationId="{00000000-0000-0000-0000-000000000000}"/>
    </ac:deMkLst>
    <p188:txBody>
      <a:bodyPr/>
      <a:lstStyle/>
      <a:p>
        <a:r>
          <a:rPr lang="en-IN"/>
          <a:t>Letter with matra and extra option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1EABF1-F2B2-4E20-B413-E2A65EDC89DA}" authorId="{ABF5DBAF-01EC-512B-712B-FD3520EFE51E}" status="resolved" created="2026-09-22T10:36:28.849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picMk id="3" creationId="{00000000-0000-0000-0000-000000000000}"/>
    </ac:deMkLst>
    <p188:txBody>
      <a:bodyPr/>
      <a:lstStyle/>
      <a:p>
        <a:r>
          <a:rPr lang="en-IN"/>
          <a:t>Kul word change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9-22T15:33:45.118" authorId="{ABF5DBAF-01EC-512B-712B-FD3520EFE51E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33B23-8064-472B-959D-29691C53FB0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9DCED4-73DA-4F7E-A464-75CC74DAD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807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Recommendations:</a:t>
            </a:r>
            <a:br>
              <a:rPr lang="en-IN" b="1" dirty="0"/>
            </a:br>
            <a:r>
              <a:rPr lang="en-GB" b="1" dirty="0" err="1"/>
              <a:t>मात्राओं</a:t>
            </a:r>
            <a:br>
              <a:rPr lang="en-GB" b="1" dirty="0"/>
            </a:b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रेल</a:t>
            </a:r>
            <a:endParaRPr lang="en-GB" dirty="0"/>
          </a:p>
          <a:p>
            <a:r>
              <a:rPr lang="en-GB" b="1" dirty="0"/>
              <a:t>Screen Changes:</a:t>
            </a:r>
            <a:endParaRPr lang="en-GB" dirty="0"/>
          </a:p>
          <a:p>
            <a:r>
              <a:rPr lang="en-GB" dirty="0"/>
              <a:t>•Remove all extra text that is not required.</a:t>
            </a:r>
          </a:p>
          <a:p>
            <a:r>
              <a:rPr lang="en-GB" dirty="0"/>
              <a:t>•Keep the screen clean and minimal.</a:t>
            </a:r>
          </a:p>
          <a:p>
            <a:r>
              <a:rPr lang="en-GB" dirty="0"/>
              <a:t>•Show only two </a:t>
            </a:r>
            <a:r>
              <a:rPr lang="en-GB" dirty="0" err="1"/>
              <a:t>matra</a:t>
            </a:r>
            <a:r>
              <a:rPr lang="en-GB" dirty="0"/>
              <a:t> boxes/cards:</a:t>
            </a:r>
          </a:p>
          <a:p>
            <a:r>
              <a:rPr lang="en-GB" dirty="0"/>
              <a:t>•</a:t>
            </a:r>
            <a:r>
              <a:rPr lang="en-GB" b="1" dirty="0"/>
              <a:t>1st box:</a:t>
            </a:r>
            <a:r>
              <a:rPr lang="en-GB" dirty="0"/>
              <a:t> ु</a:t>
            </a:r>
          </a:p>
          <a:p>
            <a:r>
              <a:rPr lang="en-GB" dirty="0"/>
              <a:t>•</a:t>
            </a:r>
            <a:r>
              <a:rPr lang="en-GB" b="1" dirty="0"/>
              <a:t>2nd box:</a:t>
            </a:r>
            <a:r>
              <a:rPr lang="en-GB" dirty="0"/>
              <a:t> ू</a:t>
            </a:r>
          </a:p>
          <a:p>
            <a:r>
              <a:rPr lang="en-GB" dirty="0"/>
              <a:t>•Keep the existing mascot and overall UI/UX style unchanged.</a:t>
            </a:r>
          </a:p>
          <a:p>
            <a:r>
              <a:rPr lang="en-GB" dirty="0"/>
              <a:t>•Follow the </a:t>
            </a:r>
            <a:r>
              <a:rPr lang="en-GB" b="1" dirty="0"/>
              <a:t>same train-theme visual treatment</a:t>
            </a:r>
            <a:r>
              <a:rPr lang="en-GB" dirty="0"/>
              <a:t> used in the previous PPT. The </a:t>
            </a:r>
            <a:r>
              <a:rPr lang="en-GB" dirty="0" err="1"/>
              <a:t>matras</a:t>
            </a:r>
            <a:r>
              <a:rPr lang="en-GB" dirty="0"/>
              <a:t> can be shown inside two train bogies/cards so that the lesson visually continues as a “</a:t>
            </a:r>
            <a:r>
              <a:rPr lang="en-GB" dirty="0" err="1"/>
              <a:t>मात्राओं</a:t>
            </a:r>
            <a:r>
              <a:rPr lang="en-GB" dirty="0"/>
              <a:t> </a:t>
            </a:r>
            <a:r>
              <a:rPr lang="en-GB" dirty="0" err="1"/>
              <a:t>की</a:t>
            </a:r>
            <a:r>
              <a:rPr lang="en-GB" dirty="0"/>
              <a:t> </a:t>
            </a:r>
            <a:r>
              <a:rPr lang="en-GB" dirty="0" err="1"/>
              <a:t>रेल</a:t>
            </a:r>
            <a:r>
              <a:rPr lang="en-GB" dirty="0"/>
              <a:t>” journey.</a:t>
            </a:r>
          </a:p>
          <a:p>
            <a:r>
              <a:rPr lang="en-GB" b="1" dirty="0"/>
              <a:t>Animation:</a:t>
            </a:r>
            <a:endParaRPr lang="en-GB" dirty="0"/>
          </a:p>
          <a:p>
            <a:r>
              <a:rPr lang="en-GB" dirty="0"/>
              <a:t>•If possible, bring the train onto the screen with a smooth </a:t>
            </a:r>
            <a:r>
              <a:rPr lang="en-GB" b="1" dirty="0"/>
              <a:t>right-to-left animation</a:t>
            </a:r>
            <a:r>
              <a:rPr lang="en-GB" dirty="0"/>
              <a:t>.</a:t>
            </a:r>
          </a:p>
          <a:p>
            <a:r>
              <a:rPr lang="en-GB" dirty="0"/>
              <a:t>•The two </a:t>
            </a:r>
            <a:r>
              <a:rPr lang="en-GB" dirty="0" err="1"/>
              <a:t>matra</a:t>
            </a:r>
            <a:r>
              <a:rPr lang="en-GB" dirty="0"/>
              <a:t> boxes/bogies can appear one by one with a soft pop/fade animation.</a:t>
            </a:r>
          </a:p>
          <a:p>
            <a:r>
              <a:rPr lang="en-GB" dirty="0"/>
              <a:t>•First show </a:t>
            </a:r>
            <a:r>
              <a:rPr lang="en-GB" b="1" dirty="0"/>
              <a:t>ु</a:t>
            </a:r>
            <a:r>
              <a:rPr lang="en-GB" dirty="0"/>
              <a:t>, followed by </a:t>
            </a:r>
            <a:r>
              <a:rPr lang="en-GB" b="1" dirty="0"/>
              <a:t>ू</a:t>
            </a:r>
            <a:r>
              <a:rPr lang="en-GB" dirty="0"/>
              <a:t>.</a:t>
            </a:r>
          </a:p>
          <a:p>
            <a:r>
              <a:rPr lang="en-GB" dirty="0"/>
              <a:t>•Keep animations subtle and child-friendly.</a:t>
            </a:r>
          </a:p>
          <a:p>
            <a:r>
              <a:rPr lang="en-GB" b="1" dirty="0"/>
              <a:t>SFX:</a:t>
            </a:r>
            <a:endParaRPr lang="en-GB" dirty="0"/>
          </a:p>
          <a:p>
            <a:r>
              <a:rPr lang="en-GB" dirty="0"/>
              <a:t>•Add a soft </a:t>
            </a:r>
            <a:r>
              <a:rPr lang="en-GB" b="1" dirty="0"/>
              <a:t>train arrival / whistle SFX</a:t>
            </a:r>
            <a:r>
              <a:rPr lang="en-GB" dirty="0"/>
              <a:t> when the train enters.</a:t>
            </a:r>
          </a:p>
          <a:p>
            <a:r>
              <a:rPr lang="en-GB" dirty="0"/>
              <a:t>•Add a light sparkle/pop SFX when each </a:t>
            </a:r>
            <a:r>
              <a:rPr lang="en-GB" dirty="0" err="1"/>
              <a:t>matra</a:t>
            </a:r>
            <a:r>
              <a:rPr lang="en-GB" dirty="0"/>
              <a:t> appears.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हेलो</a:t>
            </a:r>
            <a:r>
              <a:rPr lang="en-GB" b="1" dirty="0"/>
              <a:t> </a:t>
            </a:r>
            <a:r>
              <a:rPr lang="en-GB" b="1" dirty="0" err="1"/>
              <a:t>दोस्त</a:t>
            </a:r>
            <a:r>
              <a:rPr lang="en-GB" b="1" dirty="0"/>
              <a:t>! </a:t>
            </a:r>
            <a:r>
              <a:rPr lang="en-GB" b="1" dirty="0" err="1"/>
              <a:t>मैं</a:t>
            </a:r>
            <a:r>
              <a:rPr lang="en-GB" b="1" dirty="0"/>
              <a:t> </a:t>
            </a:r>
            <a:r>
              <a:rPr lang="en-GB" b="1" dirty="0" err="1"/>
              <a:t>हूँ</a:t>
            </a:r>
            <a:r>
              <a:rPr lang="en-GB" b="1" dirty="0"/>
              <a:t> </a:t>
            </a:r>
            <a:r>
              <a:rPr lang="en-GB" b="1" dirty="0" err="1"/>
              <a:t>स्विफ्टी</a:t>
            </a:r>
            <a:r>
              <a:rPr lang="en-GB" b="1" dirty="0"/>
              <a:t>। </a:t>
            </a:r>
            <a:r>
              <a:rPr lang="en-GB" b="1" dirty="0" err="1"/>
              <a:t>आज</a:t>
            </a:r>
            <a:r>
              <a:rPr lang="en-GB" b="1" dirty="0"/>
              <a:t> </a:t>
            </a:r>
            <a:r>
              <a:rPr lang="en-GB" b="1" dirty="0" err="1"/>
              <a:t>हम</a:t>
            </a:r>
            <a:r>
              <a:rPr lang="en-GB" b="1" dirty="0"/>
              <a:t> </a:t>
            </a:r>
            <a:r>
              <a:rPr lang="en-GB" b="1" dirty="0" err="1"/>
              <a:t>मात्राओं</a:t>
            </a:r>
            <a:r>
              <a:rPr lang="en-GB" b="1" dirty="0"/>
              <a:t>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बारे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जानेंगे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After this VO, the two </a:t>
            </a:r>
            <a:r>
              <a:rPr lang="en-GB" dirty="0" err="1"/>
              <a:t>matras</a:t>
            </a:r>
            <a:r>
              <a:rPr lang="en-GB" dirty="0"/>
              <a:t> </a:t>
            </a:r>
            <a:r>
              <a:rPr lang="en-GB" b="1" dirty="0"/>
              <a:t>ु, ू</a:t>
            </a:r>
            <a:r>
              <a:rPr lang="en-GB" dirty="0"/>
              <a:t> can appear one by one on screen.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27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आज</a:t>
            </a:r>
            <a:r>
              <a:rPr lang="en-GB" b="1" dirty="0"/>
              <a:t> </a:t>
            </a:r>
            <a:r>
              <a:rPr lang="en-GB" b="1" dirty="0" err="1"/>
              <a:t>हम</a:t>
            </a:r>
            <a:r>
              <a:rPr lang="en-GB" b="1" dirty="0"/>
              <a:t> </a:t>
            </a:r>
            <a:r>
              <a:rPr lang="en-GB" b="1" dirty="0" err="1"/>
              <a:t>छोटी</a:t>
            </a:r>
            <a:r>
              <a:rPr lang="en-GB" b="1" dirty="0"/>
              <a:t> उ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बड़ी</a:t>
            </a:r>
            <a:r>
              <a:rPr lang="en-GB" b="1" dirty="0"/>
              <a:t> ऊ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पढ़ेंगे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इसके</a:t>
            </a:r>
            <a:r>
              <a:rPr lang="en-GB" dirty="0"/>
              <a:t> </a:t>
            </a:r>
            <a:r>
              <a:rPr lang="en-GB" dirty="0" err="1"/>
              <a:t>बाद</a:t>
            </a:r>
            <a:r>
              <a:rPr lang="en-GB" dirty="0"/>
              <a:t> pair-wise VO </a:t>
            </a:r>
            <a:r>
              <a:rPr lang="en-GB" dirty="0" err="1"/>
              <a:t>इस</a:t>
            </a:r>
            <a:r>
              <a:rPr lang="en-GB" dirty="0"/>
              <a:t> </a:t>
            </a:r>
            <a:r>
              <a:rPr lang="en-GB" dirty="0" err="1"/>
              <a:t>तरह</a:t>
            </a:r>
            <a:r>
              <a:rPr lang="en-GB" dirty="0"/>
              <a:t> </a:t>
            </a:r>
            <a:r>
              <a:rPr lang="en-GB" dirty="0" err="1"/>
              <a:t>चल</a:t>
            </a:r>
            <a:r>
              <a:rPr lang="en-GB" dirty="0"/>
              <a:t> </a:t>
            </a:r>
            <a:r>
              <a:rPr lang="en-GB" dirty="0" err="1"/>
              <a:t>सकती</a:t>
            </a:r>
            <a:r>
              <a:rPr lang="en-GB" dirty="0"/>
              <a:t> </a:t>
            </a:r>
            <a:r>
              <a:rPr lang="en-GB" dirty="0" err="1"/>
              <a:t>है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 उ। </a:t>
            </a:r>
            <a:r>
              <a:rPr lang="en-GB" b="1" dirty="0" err="1"/>
              <a:t>इसकी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 — ु।”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 ऊ। </a:t>
            </a:r>
            <a:r>
              <a:rPr lang="en-GB" b="1" dirty="0" err="1"/>
              <a:t>इसकी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 — ू।”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r>
              <a:rPr lang="en-GB" dirty="0"/>
              <a:t>•Remove the current extra heading text from the top, if needed, so the screen stays clean and focused.</a:t>
            </a:r>
          </a:p>
          <a:p>
            <a:r>
              <a:rPr lang="en-GB" dirty="0"/>
              <a:t>•Show the </a:t>
            </a:r>
            <a:r>
              <a:rPr lang="en-GB" b="1" dirty="0"/>
              <a:t>letter and its corresponding </a:t>
            </a:r>
            <a:r>
              <a:rPr lang="en-GB" b="1" dirty="0" err="1"/>
              <a:t>matra</a:t>
            </a:r>
            <a:r>
              <a:rPr lang="en-GB" b="1" dirty="0"/>
              <a:t> symbol as a pair</a:t>
            </a:r>
            <a:r>
              <a:rPr lang="en-GB" dirty="0"/>
              <a:t>, one by one.</a:t>
            </a:r>
          </a:p>
          <a:p>
            <a:r>
              <a:rPr lang="en-GB" dirty="0"/>
              <a:t>•Keep only </a:t>
            </a:r>
            <a:r>
              <a:rPr lang="en-GB" b="1" dirty="0"/>
              <a:t>one pair active at a time</a:t>
            </a:r>
            <a:r>
              <a:rPr lang="en-GB" dirty="0"/>
              <a:t>.</a:t>
            </a:r>
          </a:p>
          <a:p>
            <a:r>
              <a:rPr lang="en-GB" dirty="0"/>
              <a:t>•Each active pair should light up/highlight when its VO plays.</a:t>
            </a:r>
          </a:p>
          <a:p>
            <a:r>
              <a:rPr lang="en-GB" dirty="0"/>
              <a:t>•Sequence should be:</a:t>
            </a:r>
          </a:p>
          <a:p>
            <a:r>
              <a:rPr lang="en-GB" dirty="0"/>
              <a:t>•</a:t>
            </a:r>
            <a:r>
              <a:rPr lang="en-GB" b="1" dirty="0"/>
              <a:t>उ → ु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/>
              <a:t>ऊ → ू</a:t>
            </a:r>
            <a:endParaRPr lang="en-GB" dirty="0"/>
          </a:p>
          <a:p>
            <a:r>
              <a:rPr lang="en-GB" dirty="0"/>
              <a:t>•Keep the existing mascot and overall UI/UX style unchanged.</a:t>
            </a:r>
          </a:p>
          <a:p>
            <a:r>
              <a:rPr lang="en-GB" dirty="0"/>
              <a:t>•If possible, keep the </a:t>
            </a:r>
            <a:r>
              <a:rPr lang="en-GB" b="1" dirty="0"/>
              <a:t>train-theme continuity</a:t>
            </a:r>
            <a:r>
              <a:rPr lang="en-GB" dirty="0"/>
              <a:t> by showing each pair inside a train-style card / bogie / box.</a:t>
            </a:r>
          </a:p>
          <a:p>
            <a:r>
              <a:rPr lang="en-GB" b="1" dirty="0"/>
              <a:t>Animation:</a:t>
            </a:r>
            <a:endParaRPr lang="en-GB" dirty="0"/>
          </a:p>
          <a:p>
            <a:r>
              <a:rPr lang="en-GB" dirty="0"/>
              <a:t>•First </a:t>
            </a:r>
            <a:r>
              <a:rPr lang="en-GB" b="1" dirty="0"/>
              <a:t>उ</a:t>
            </a:r>
            <a:r>
              <a:rPr lang="en-GB" dirty="0"/>
              <a:t> appears, then </a:t>
            </a:r>
            <a:r>
              <a:rPr lang="en-GB" b="1" dirty="0"/>
              <a:t>ु</a:t>
            </a:r>
            <a:r>
              <a:rPr lang="en-GB" dirty="0"/>
              <a:t> appears beside it with a soft glow.</a:t>
            </a:r>
          </a:p>
          <a:p>
            <a:r>
              <a:rPr lang="en-GB" dirty="0"/>
              <a:t>•After that, both can fade slightly / dim softly.</a:t>
            </a:r>
          </a:p>
          <a:p>
            <a:r>
              <a:rPr lang="en-GB" dirty="0"/>
              <a:t>•Then </a:t>
            </a:r>
            <a:r>
              <a:rPr lang="en-GB" b="1" dirty="0"/>
              <a:t>ऊ</a:t>
            </a:r>
            <a:r>
              <a:rPr lang="en-GB" dirty="0"/>
              <a:t> appears, and </a:t>
            </a:r>
            <a:r>
              <a:rPr lang="en-GB" b="1" dirty="0"/>
              <a:t>ू</a:t>
            </a:r>
            <a:r>
              <a:rPr lang="en-GB" dirty="0"/>
              <a:t> appears beside it.</a:t>
            </a:r>
          </a:p>
          <a:p>
            <a:r>
              <a:rPr lang="en-GB" dirty="0"/>
              <a:t>•Use a simple </a:t>
            </a:r>
            <a:r>
              <a:rPr lang="en-GB" b="1" dirty="0"/>
              <a:t>pop / fade animation</a:t>
            </a:r>
            <a:r>
              <a:rPr lang="en-GB" dirty="0"/>
              <a:t>.</a:t>
            </a:r>
          </a:p>
          <a:p>
            <a:r>
              <a:rPr lang="en-GB" dirty="0"/>
              <a:t>•Do not add extra decorative elements.</a:t>
            </a:r>
          </a:p>
          <a:p>
            <a:r>
              <a:rPr lang="en-GB" dirty="0"/>
              <a:t>•Keep animations subtle and child-friendly.</a:t>
            </a:r>
          </a:p>
          <a:p>
            <a:r>
              <a:rPr lang="en-GB" b="1" dirty="0"/>
              <a:t>SFX:</a:t>
            </a:r>
            <a:endParaRPr lang="en-GB" dirty="0"/>
          </a:p>
          <a:p>
            <a:r>
              <a:rPr lang="en-GB" dirty="0"/>
              <a:t>•Add a soft </a:t>
            </a:r>
            <a:r>
              <a:rPr lang="en-GB" b="1" dirty="0"/>
              <a:t>pop / chime</a:t>
            </a:r>
            <a:r>
              <a:rPr lang="en-GB" dirty="0"/>
              <a:t> when each </a:t>
            </a:r>
            <a:r>
              <a:rPr lang="en-GB" dirty="0" err="1"/>
              <a:t>matra</a:t>
            </a:r>
            <a:r>
              <a:rPr lang="en-GB" dirty="0"/>
              <a:t> symbol appears.</a:t>
            </a:r>
          </a:p>
          <a:p>
            <a:r>
              <a:rPr lang="en-GB" dirty="0"/>
              <a:t>•Keep SFX subtle so the VO remains clear.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r>
              <a:rPr lang="en-GB" dirty="0"/>
              <a:t>•Keep the </a:t>
            </a:r>
            <a:r>
              <a:rPr lang="en-GB" b="1" dirty="0"/>
              <a:t>Next</a:t>
            </a:r>
            <a:r>
              <a:rPr lang="en-GB" dirty="0"/>
              <a:t> button disabled during the sequence.</a:t>
            </a:r>
          </a:p>
          <a:p>
            <a:r>
              <a:rPr lang="en-GB" dirty="0"/>
              <a:t>•Activate it only after both pairs have been shown and spoken.</a:t>
            </a:r>
          </a:p>
          <a:p>
            <a:r>
              <a:rPr lang="en-GB" b="1" dirty="0"/>
              <a:t>Note:</a:t>
            </a:r>
            <a:endParaRPr lang="en-GB" dirty="0"/>
          </a:p>
          <a:p>
            <a:r>
              <a:rPr lang="en-GB" dirty="0"/>
              <a:t>•This slide should work as the </a:t>
            </a:r>
            <a:r>
              <a:rPr lang="en-GB" b="1" dirty="0"/>
              <a:t>introduction to the two </a:t>
            </a:r>
            <a:r>
              <a:rPr lang="en-GB" b="1" dirty="0" err="1"/>
              <a:t>matras</a:t>
            </a:r>
            <a:r>
              <a:rPr lang="en-GB" dirty="0"/>
              <a:t>.</a:t>
            </a:r>
          </a:p>
          <a:p>
            <a:r>
              <a:rPr lang="en-GB" dirty="0"/>
              <a:t>•The main learning goal is that the child clearly connects:</a:t>
            </a:r>
          </a:p>
          <a:p>
            <a:r>
              <a:rPr lang="en-GB" b="1" dirty="0"/>
              <a:t>उ → ु</a:t>
            </a:r>
            <a:br>
              <a:rPr lang="en-GB" dirty="0"/>
            </a:br>
            <a:r>
              <a:rPr lang="en-GB" b="1" dirty="0"/>
              <a:t>ऊ → ू</a:t>
            </a:r>
            <a:endParaRPr lang="en-GB" dirty="0"/>
          </a:p>
          <a:p>
            <a:r>
              <a:rPr lang="en-GB" dirty="0"/>
              <a:t>•Since this lesson has only two </a:t>
            </a:r>
            <a:r>
              <a:rPr lang="en-GB" dirty="0" err="1"/>
              <a:t>matras</a:t>
            </a:r>
            <a:r>
              <a:rPr lang="en-GB" dirty="0"/>
              <a:t>, show only these two pairs and do not overload the screen.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176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Recommendation</a:t>
            </a:r>
            <a:endParaRPr lang="en-IN" dirty="0"/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आइए, देखें कि छोटी उ की मात्रा लगने से शब्द की आवाज़ कैसे बदलती है।”</a:t>
            </a:r>
            <a:endParaRPr lang="hi-IN" dirty="0"/>
          </a:p>
          <a:p>
            <a:r>
              <a:rPr lang="hi-IN" dirty="0"/>
              <a:t>पहले:</a:t>
            </a:r>
          </a:p>
          <a:p>
            <a:r>
              <a:rPr lang="hi-IN" b="1" dirty="0"/>
              <a:t>“यह शब्द देखिए — पल।”</a:t>
            </a:r>
            <a:endParaRPr lang="hi-IN" dirty="0"/>
          </a:p>
          <a:p>
            <a:r>
              <a:rPr lang="hi-IN" dirty="0"/>
              <a:t>फिर:</a:t>
            </a:r>
          </a:p>
          <a:p>
            <a:r>
              <a:rPr lang="hi-IN" b="1" dirty="0"/>
              <a:t>“प के साथ छोटी उ की मात्रा लगाने पर ‘पु’ बनता है।”</a:t>
            </a:r>
            <a:endParaRPr lang="hi-IN" dirty="0"/>
          </a:p>
          <a:p>
            <a:r>
              <a:rPr lang="hi-IN" dirty="0"/>
              <a:t>अंत में:</a:t>
            </a:r>
          </a:p>
          <a:p>
            <a:r>
              <a:rPr lang="hi-IN" b="1" dirty="0"/>
              <a:t>“अब ‘ल’ जुड़ने पर ‘पुल’ बनता है।”</a:t>
            </a:r>
            <a:endParaRPr lang="hi-IN" dirty="0"/>
          </a:p>
          <a:p>
            <a:r>
              <a:rPr lang="en-IN" b="1" dirty="0"/>
              <a:t>On Screen:</a:t>
            </a:r>
            <a:endParaRPr lang="en-IN" dirty="0"/>
          </a:p>
          <a:p>
            <a:r>
              <a:rPr lang="en-IN" dirty="0"/>
              <a:t>•Keep the screen focused on only </a:t>
            </a:r>
            <a:r>
              <a:rPr lang="en-IN" b="1" dirty="0"/>
              <a:t>one word transformation</a:t>
            </a:r>
            <a:r>
              <a:rPr lang="en-IN" dirty="0"/>
              <a:t>.</a:t>
            </a:r>
          </a:p>
          <a:p>
            <a:r>
              <a:rPr lang="en-IN" dirty="0"/>
              <a:t>•First show </a:t>
            </a:r>
            <a:r>
              <a:rPr lang="hi-IN" b="1" dirty="0"/>
              <a:t>पल</a:t>
            </a:r>
            <a:r>
              <a:rPr lang="hi-IN" dirty="0"/>
              <a:t> </a:t>
            </a:r>
            <a:r>
              <a:rPr lang="en-IN" dirty="0"/>
              <a:t>clearly on the left side.</a:t>
            </a:r>
          </a:p>
          <a:p>
            <a:r>
              <a:rPr lang="en-IN" dirty="0"/>
              <a:t>•In the centre, show the transformation:</a:t>
            </a:r>
          </a:p>
          <a:p>
            <a:r>
              <a:rPr lang="hi-IN" b="1" dirty="0"/>
              <a:t>प + ु = पु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Highlight only the </a:t>
            </a:r>
            <a:r>
              <a:rPr lang="hi-IN" b="1" dirty="0"/>
              <a:t>ु</a:t>
            </a:r>
            <a:r>
              <a:rPr lang="hi-IN" dirty="0"/>
              <a:t> मात्रा </a:t>
            </a:r>
            <a:r>
              <a:rPr lang="en-IN" dirty="0"/>
              <a:t>in red when it is introduced.</a:t>
            </a:r>
          </a:p>
          <a:p>
            <a:r>
              <a:rPr lang="en-IN" dirty="0"/>
              <a:t>•After that, show the final word:</a:t>
            </a:r>
          </a:p>
          <a:p>
            <a:r>
              <a:rPr lang="hi-IN" b="1" dirty="0"/>
              <a:t>पुल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In </a:t>
            </a:r>
            <a:r>
              <a:rPr lang="hi-IN" b="1" dirty="0"/>
              <a:t>पुल</a:t>
            </a:r>
            <a:r>
              <a:rPr lang="hi-IN" dirty="0"/>
              <a:t>, </a:t>
            </a:r>
            <a:r>
              <a:rPr lang="en-IN" dirty="0"/>
              <a:t>highlight the </a:t>
            </a:r>
            <a:r>
              <a:rPr lang="hi-IN" b="1" dirty="0"/>
              <a:t>ु</a:t>
            </a:r>
            <a:r>
              <a:rPr lang="hi-IN" dirty="0"/>
              <a:t> मात्रा </a:t>
            </a:r>
            <a:r>
              <a:rPr lang="en-IN" dirty="0"/>
              <a:t>again so the child clearly notices where the </a:t>
            </a:r>
            <a:r>
              <a:rPr lang="en-IN" dirty="0" err="1"/>
              <a:t>matra</a:t>
            </a:r>
            <a:r>
              <a:rPr lang="en-IN" dirty="0"/>
              <a:t> is placed.</a:t>
            </a:r>
          </a:p>
          <a:p>
            <a:r>
              <a:rPr lang="en-IN" dirty="0"/>
              <a:t>•Show a simple and clear </a:t>
            </a:r>
            <a:r>
              <a:rPr lang="en-IN" b="1" dirty="0"/>
              <a:t>bridge image</a:t>
            </a:r>
            <a:r>
              <a:rPr lang="en-IN" dirty="0"/>
              <a:t> below or beside </a:t>
            </a:r>
            <a:r>
              <a:rPr lang="hi-IN" b="1" dirty="0"/>
              <a:t>पुल</a:t>
            </a:r>
            <a:r>
              <a:rPr lang="hi-IN" dirty="0"/>
              <a:t>.</a:t>
            </a:r>
          </a:p>
          <a:p>
            <a:r>
              <a:rPr lang="hi-IN" dirty="0"/>
              <a:t>•</a:t>
            </a:r>
            <a:r>
              <a:rPr lang="en-IN" dirty="0"/>
              <a:t>Keep the existing mascot and overall UI/UX style unchanged.</a:t>
            </a:r>
          </a:p>
          <a:p>
            <a:r>
              <a:rPr lang="en-IN" dirty="0"/>
              <a:t>•Keep the screen clean and minimal. Do not add unnecessary explanatory text.</a:t>
            </a:r>
          </a:p>
          <a:p>
            <a:r>
              <a:rPr lang="en-IN" b="1" dirty="0"/>
              <a:t>Sequence: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hi-IN" b="1" dirty="0"/>
              <a:t>पल</a:t>
            </a:r>
            <a:r>
              <a:rPr lang="hi-IN" dirty="0"/>
              <a:t> </a:t>
            </a:r>
            <a:r>
              <a:rPr lang="en-IN" dirty="0"/>
              <a:t>appears first. </a:t>
            </a:r>
          </a:p>
          <a:p>
            <a:pPr>
              <a:buFont typeface="+mj-lt"/>
              <a:buAutoNum type="arabicPeriod"/>
            </a:pPr>
            <a:r>
              <a:rPr lang="en-IN" dirty="0"/>
              <a:t>VO reads: </a:t>
            </a:r>
            <a:r>
              <a:rPr lang="en-IN" b="1" dirty="0"/>
              <a:t>“</a:t>
            </a:r>
            <a:r>
              <a:rPr lang="hi-IN" b="1" dirty="0"/>
              <a:t>यह शब्द देखिए — पल।”</a:t>
            </a:r>
            <a:r>
              <a:rPr lang="hi-IN" dirty="0"/>
              <a:t> </a:t>
            </a:r>
          </a:p>
          <a:p>
            <a:pPr>
              <a:buFont typeface="+mj-lt"/>
              <a:buAutoNum type="arabicPeriod"/>
            </a:pPr>
            <a:r>
              <a:rPr lang="en-IN" dirty="0"/>
              <a:t>Highlight </a:t>
            </a:r>
            <a:r>
              <a:rPr lang="hi-IN" b="1" dirty="0"/>
              <a:t>प</a:t>
            </a:r>
            <a:r>
              <a:rPr lang="hi-IN" dirty="0"/>
              <a:t>. </a:t>
            </a:r>
          </a:p>
          <a:p>
            <a:pPr>
              <a:buFont typeface="+mj-lt"/>
              <a:buAutoNum type="arabicPeriod"/>
            </a:pPr>
            <a:r>
              <a:rPr lang="hi-IN" b="1" dirty="0"/>
              <a:t>ु</a:t>
            </a:r>
            <a:r>
              <a:rPr lang="hi-IN" dirty="0"/>
              <a:t> </a:t>
            </a:r>
            <a:r>
              <a:rPr lang="en-IN" dirty="0"/>
              <a:t>appears beside/below </a:t>
            </a:r>
            <a:r>
              <a:rPr lang="hi-IN" b="1" dirty="0"/>
              <a:t>प</a:t>
            </a:r>
            <a:r>
              <a:rPr lang="hi-IN" dirty="0"/>
              <a:t>. </a:t>
            </a:r>
          </a:p>
          <a:p>
            <a:pPr>
              <a:buFont typeface="+mj-lt"/>
              <a:buAutoNum type="arabicPeriod"/>
            </a:pPr>
            <a:r>
              <a:rPr lang="en-IN" dirty="0"/>
              <a:t>Show: </a:t>
            </a:r>
            <a:r>
              <a:rPr lang="hi-IN" b="1" dirty="0"/>
              <a:t>प + ु = पु</a:t>
            </a:r>
            <a:r>
              <a:rPr lang="hi-IN" dirty="0"/>
              <a:t> </a:t>
            </a:r>
          </a:p>
          <a:p>
            <a:pPr>
              <a:buFont typeface="+mj-lt"/>
              <a:buAutoNum type="arabicPeriod"/>
            </a:pPr>
            <a:r>
              <a:rPr lang="en-IN" dirty="0"/>
              <a:t>VO says: </a:t>
            </a:r>
            <a:r>
              <a:rPr lang="en-IN" b="1" dirty="0"/>
              <a:t>“</a:t>
            </a:r>
            <a:r>
              <a:rPr lang="hi-IN" b="1" dirty="0"/>
              <a:t>प के साथ छोटी उ की मात्रा लगाने पर ‘पु’ बनता है।”</a:t>
            </a:r>
            <a:r>
              <a:rPr lang="hi-IN" dirty="0"/>
              <a:t> </a:t>
            </a:r>
          </a:p>
          <a:p>
            <a:pPr>
              <a:buFont typeface="+mj-lt"/>
              <a:buAutoNum type="arabicPeriod"/>
            </a:pPr>
            <a:r>
              <a:rPr lang="en-IN" dirty="0"/>
              <a:t>Then </a:t>
            </a:r>
            <a:r>
              <a:rPr lang="hi-IN" b="1" dirty="0"/>
              <a:t>ल</a:t>
            </a:r>
            <a:r>
              <a:rPr lang="hi-IN" dirty="0"/>
              <a:t> </a:t>
            </a:r>
            <a:r>
              <a:rPr lang="en-IN" dirty="0"/>
              <a:t>joins. </a:t>
            </a:r>
          </a:p>
          <a:p>
            <a:pPr>
              <a:buFont typeface="+mj-lt"/>
              <a:buAutoNum type="arabicPeriod"/>
            </a:pPr>
            <a:r>
              <a:rPr lang="en-IN" dirty="0"/>
              <a:t>Final word </a:t>
            </a:r>
            <a:r>
              <a:rPr lang="hi-IN" b="1" dirty="0"/>
              <a:t>पुल</a:t>
            </a:r>
            <a:r>
              <a:rPr lang="hi-IN" dirty="0"/>
              <a:t> </a:t>
            </a:r>
            <a:r>
              <a:rPr lang="en-IN" dirty="0"/>
              <a:t>appears. </a:t>
            </a:r>
          </a:p>
          <a:p>
            <a:pPr>
              <a:buFont typeface="+mj-lt"/>
              <a:buAutoNum type="arabicPeriod"/>
            </a:pPr>
            <a:r>
              <a:rPr lang="en-IN" dirty="0"/>
              <a:t>Highlight </a:t>
            </a:r>
            <a:r>
              <a:rPr lang="hi-IN" b="1" dirty="0"/>
              <a:t>ु</a:t>
            </a:r>
            <a:r>
              <a:rPr lang="hi-IN" dirty="0"/>
              <a:t> </a:t>
            </a:r>
            <a:r>
              <a:rPr lang="en-IN" dirty="0"/>
              <a:t>inside </a:t>
            </a:r>
            <a:r>
              <a:rPr lang="hi-IN" b="1" dirty="0"/>
              <a:t>पुल</a:t>
            </a:r>
            <a:r>
              <a:rPr lang="hi-IN" dirty="0"/>
              <a:t>. </a:t>
            </a:r>
          </a:p>
          <a:p>
            <a:pPr>
              <a:buFont typeface="+mj-lt"/>
              <a:buAutoNum type="arabicPeriod"/>
            </a:pPr>
            <a:r>
              <a:rPr lang="en-IN" dirty="0"/>
              <a:t>Bridge image appears. </a:t>
            </a:r>
          </a:p>
          <a:p>
            <a:r>
              <a:rPr lang="en-IN" b="1" dirty="0"/>
              <a:t>Animation:</a:t>
            </a:r>
            <a:endParaRPr lang="en-IN" dirty="0"/>
          </a:p>
          <a:p>
            <a:r>
              <a:rPr lang="en-IN" dirty="0"/>
              <a:t>•Use a simple step-by-step animation.</a:t>
            </a:r>
          </a:p>
          <a:p>
            <a:r>
              <a:rPr lang="en-IN" dirty="0"/>
              <a:t>•Do not show all stages together at the beginning.</a:t>
            </a:r>
          </a:p>
          <a:p>
            <a:r>
              <a:rPr lang="en-IN" dirty="0"/>
              <a:t>•First show </a:t>
            </a:r>
            <a:r>
              <a:rPr lang="hi-IN" b="1" dirty="0"/>
              <a:t>पल</a:t>
            </a:r>
            <a:r>
              <a:rPr lang="hi-IN" dirty="0"/>
              <a:t>.</a:t>
            </a:r>
          </a:p>
          <a:p>
            <a:r>
              <a:rPr lang="hi-IN" dirty="0"/>
              <a:t>•</a:t>
            </a:r>
            <a:r>
              <a:rPr lang="en-IN" dirty="0"/>
              <a:t>Then isolate/highlight </a:t>
            </a:r>
            <a:r>
              <a:rPr lang="hi-IN" b="1" dirty="0"/>
              <a:t>प</a:t>
            </a:r>
            <a:r>
              <a:rPr lang="hi-IN" dirty="0"/>
              <a:t>.</a:t>
            </a:r>
          </a:p>
          <a:p>
            <a:r>
              <a:rPr lang="hi-IN" dirty="0"/>
              <a:t>•</a:t>
            </a:r>
            <a:r>
              <a:rPr lang="en-IN" dirty="0"/>
              <a:t>The </a:t>
            </a:r>
            <a:r>
              <a:rPr lang="hi-IN" b="1" dirty="0"/>
              <a:t>ु</a:t>
            </a:r>
            <a:r>
              <a:rPr lang="hi-IN" dirty="0"/>
              <a:t> मात्रा </a:t>
            </a:r>
            <a:r>
              <a:rPr lang="en-IN" dirty="0"/>
              <a:t>should softly pop/slide into its correct position below </a:t>
            </a:r>
            <a:r>
              <a:rPr lang="hi-IN" b="1" dirty="0"/>
              <a:t>प</a:t>
            </a:r>
            <a:r>
              <a:rPr lang="hi-IN" dirty="0"/>
              <a:t>.</a:t>
            </a:r>
          </a:p>
          <a:p>
            <a:r>
              <a:rPr lang="hi-IN" dirty="0"/>
              <a:t>•</a:t>
            </a:r>
            <a:r>
              <a:rPr lang="en-IN" dirty="0"/>
              <a:t>As soon as the </a:t>
            </a:r>
            <a:r>
              <a:rPr lang="en-IN" dirty="0" err="1"/>
              <a:t>matra</a:t>
            </a:r>
            <a:r>
              <a:rPr lang="en-IN" dirty="0"/>
              <a:t> joins, visually transform:</a:t>
            </a:r>
          </a:p>
          <a:p>
            <a:r>
              <a:rPr lang="hi-IN" b="1" dirty="0"/>
              <a:t>प → पु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Then </a:t>
            </a:r>
            <a:r>
              <a:rPr lang="hi-IN" b="1" dirty="0"/>
              <a:t>ल</a:t>
            </a:r>
            <a:r>
              <a:rPr lang="hi-IN" dirty="0"/>
              <a:t> </a:t>
            </a:r>
            <a:r>
              <a:rPr lang="en-IN" dirty="0"/>
              <a:t>can slide in to form:</a:t>
            </a:r>
          </a:p>
          <a:p>
            <a:r>
              <a:rPr lang="hi-IN" b="1" dirty="0"/>
              <a:t>पु → पुल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After the word is completed, the bridge image can appear with a soft fade/pop animation.</a:t>
            </a:r>
          </a:p>
          <a:p>
            <a:r>
              <a:rPr lang="en-IN" dirty="0"/>
              <a:t>•Keep the animation synced with the VO.</a:t>
            </a:r>
          </a:p>
          <a:p>
            <a:r>
              <a:rPr lang="en-IN" b="1" dirty="0"/>
              <a:t>Sound Differentiation:</a:t>
            </a:r>
            <a:endParaRPr lang="en-IN" dirty="0"/>
          </a:p>
          <a:p>
            <a:r>
              <a:rPr lang="en-IN" dirty="0"/>
              <a:t>Make the pronunciation difference very clear:</a:t>
            </a:r>
          </a:p>
          <a:p>
            <a:r>
              <a:rPr lang="hi-IN" b="1" dirty="0"/>
              <a:t>प</a:t>
            </a:r>
            <a:br>
              <a:rPr lang="hi-IN" dirty="0"/>
            </a:br>
            <a:r>
              <a:rPr lang="hi-IN" b="1" dirty="0"/>
              <a:t>पु</a:t>
            </a:r>
            <a:br>
              <a:rPr lang="hi-IN" dirty="0"/>
            </a:br>
            <a:r>
              <a:rPr lang="hi-IN" b="1" dirty="0"/>
              <a:t>पुल</a:t>
            </a:r>
            <a:endParaRPr lang="hi-IN" dirty="0"/>
          </a:p>
          <a:p>
            <a:r>
              <a:rPr lang="en-IN" dirty="0"/>
              <a:t>Give a short pause between each sound so the child can hear how the sound changes after adding </a:t>
            </a:r>
            <a:r>
              <a:rPr lang="hi-IN" b="1" dirty="0"/>
              <a:t>ु</a:t>
            </a:r>
            <a:r>
              <a:rPr lang="hi-IN" dirty="0"/>
              <a:t>.</a:t>
            </a:r>
          </a:p>
          <a:p>
            <a:r>
              <a:rPr lang="en-IN" b="1" dirty="0"/>
              <a:t>SFX:</a:t>
            </a:r>
            <a:endParaRPr lang="en-IN" dirty="0"/>
          </a:p>
          <a:p>
            <a:r>
              <a:rPr lang="en-IN" dirty="0"/>
              <a:t>•Add a soft pop when </a:t>
            </a:r>
            <a:r>
              <a:rPr lang="hi-IN" b="1" dirty="0"/>
              <a:t>ु</a:t>
            </a:r>
            <a:r>
              <a:rPr lang="hi-IN" dirty="0"/>
              <a:t> </a:t>
            </a:r>
            <a:r>
              <a:rPr lang="en-IN" dirty="0"/>
              <a:t>appears.</a:t>
            </a:r>
          </a:p>
          <a:p>
            <a:r>
              <a:rPr lang="en-IN" dirty="0"/>
              <a:t>•Add a light chime when </a:t>
            </a:r>
            <a:r>
              <a:rPr lang="hi-IN" b="1" dirty="0"/>
              <a:t>प</a:t>
            </a:r>
            <a:r>
              <a:rPr lang="hi-IN" dirty="0"/>
              <a:t> </a:t>
            </a:r>
            <a:r>
              <a:rPr lang="en-IN" dirty="0"/>
              <a:t>changes to </a:t>
            </a:r>
            <a:r>
              <a:rPr lang="hi-IN" b="1" dirty="0"/>
              <a:t>पु</a:t>
            </a:r>
            <a:r>
              <a:rPr lang="hi-IN" dirty="0"/>
              <a:t>.</a:t>
            </a:r>
          </a:p>
          <a:p>
            <a:r>
              <a:rPr lang="hi-IN" dirty="0"/>
              <a:t>•</a:t>
            </a:r>
            <a:r>
              <a:rPr lang="en-IN" dirty="0"/>
              <a:t>Add a small success sound when </a:t>
            </a:r>
            <a:r>
              <a:rPr lang="hi-IN" b="1" dirty="0"/>
              <a:t>पुल</a:t>
            </a:r>
            <a:r>
              <a:rPr lang="hi-IN" dirty="0"/>
              <a:t> </a:t>
            </a:r>
            <a:r>
              <a:rPr lang="en-IN" dirty="0"/>
              <a:t>is completed.</a:t>
            </a:r>
          </a:p>
          <a:p>
            <a:r>
              <a:rPr lang="en-IN" dirty="0"/>
              <a:t>•Keep SFX subtle so the pronunciation remains clear.</a:t>
            </a:r>
          </a:p>
          <a:p>
            <a:r>
              <a:rPr lang="en-IN" b="1" dirty="0"/>
              <a:t>Next Button:</a:t>
            </a:r>
            <a:endParaRPr lang="en-IN" dirty="0"/>
          </a:p>
          <a:p>
            <a:r>
              <a:rPr lang="en-IN" dirty="0"/>
              <a:t>•Keep the </a:t>
            </a:r>
            <a:r>
              <a:rPr lang="en-IN" b="1" dirty="0"/>
              <a:t>Next</a:t>
            </a:r>
            <a:r>
              <a:rPr lang="en-IN" dirty="0"/>
              <a:t> button disabled while the complete transformation is playing.</a:t>
            </a:r>
          </a:p>
          <a:p>
            <a:r>
              <a:rPr lang="en-IN" dirty="0"/>
              <a:t>•Activate it only after </a:t>
            </a:r>
            <a:r>
              <a:rPr lang="hi-IN" b="1" dirty="0"/>
              <a:t>प → पु → पुल</a:t>
            </a:r>
            <a:r>
              <a:rPr lang="hi-IN" dirty="0"/>
              <a:t> </a:t>
            </a:r>
            <a:r>
              <a:rPr lang="en-IN" dirty="0"/>
              <a:t>has been fully demonstrated and the bridge image has appeared.</a:t>
            </a:r>
          </a:p>
          <a:p>
            <a:r>
              <a:rPr lang="en-IN" b="1" dirty="0"/>
              <a:t>Note:</a:t>
            </a:r>
            <a:endParaRPr lang="en-IN" dirty="0"/>
          </a:p>
          <a:p>
            <a:r>
              <a:rPr lang="en-IN" dirty="0"/>
              <a:t>•Please avoid awkward phrasing such as:</a:t>
            </a:r>
          </a:p>
          <a:p>
            <a:r>
              <a:rPr lang="en-IN" b="1" dirty="0"/>
              <a:t>“</a:t>
            </a:r>
            <a:r>
              <a:rPr lang="hi-IN" b="1" dirty="0"/>
              <a:t>प में उ की मात्रा लगी, बना पु।”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Use:</a:t>
            </a:r>
          </a:p>
          <a:p>
            <a:r>
              <a:rPr lang="en-IN" b="1" dirty="0"/>
              <a:t>“</a:t>
            </a:r>
            <a:r>
              <a:rPr lang="hi-IN" b="1" dirty="0"/>
              <a:t>प के साथ छोटी उ की मात्रा लगाने पर ‘पु’ बनता है।”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The key visual learning should remain:</a:t>
            </a:r>
          </a:p>
          <a:p>
            <a:r>
              <a:rPr lang="hi-IN" b="1" dirty="0"/>
              <a:t>पल → प + ु = पु → पुल</a:t>
            </a:r>
            <a:endParaRPr lang="hi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526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Recommendation</a:t>
            </a:r>
            <a:endParaRPr lang="en-IN" dirty="0"/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dirty="0"/>
              <a:t>“</a:t>
            </a:r>
            <a:r>
              <a:rPr lang="hi-IN" dirty="0"/>
              <a:t>आइए, छोटी उ की मात्रा वाले कुछ शब्द देखें।”</a:t>
            </a:r>
          </a:p>
          <a:p>
            <a:r>
              <a:rPr lang="hi-IN" dirty="0"/>
              <a:t>पहले:</a:t>
            </a:r>
          </a:p>
          <a:p>
            <a:r>
              <a:rPr lang="hi-IN" b="1" dirty="0"/>
              <a:t>“गुड़</a:t>
            </a:r>
            <a:br>
              <a:rPr lang="hi-IN" dirty="0"/>
            </a:br>
            <a:r>
              <a:rPr lang="hi-IN" b="1" dirty="0"/>
              <a:t>— बोलकर</a:t>
            </a:r>
            <a:br>
              <a:rPr lang="hi-IN" dirty="0"/>
            </a:br>
            <a:r>
              <a:rPr lang="hi-IN" b="1" dirty="0"/>
              <a:t>देखिए।</a:t>
            </a:r>
            <a:br>
              <a:rPr lang="hi-IN" dirty="0"/>
            </a:br>
            <a:r>
              <a:rPr lang="hi-IN" b="1" dirty="0"/>
              <a:t>इसमें</a:t>
            </a:r>
            <a:br>
              <a:rPr lang="hi-IN" dirty="0"/>
            </a:br>
            <a:r>
              <a:rPr lang="hi-IN" b="1" dirty="0"/>
              <a:t>ग</a:t>
            </a:r>
            <a:br>
              <a:rPr lang="hi-IN" dirty="0"/>
            </a:br>
            <a:r>
              <a:rPr lang="hi-IN" b="1" dirty="0"/>
              <a:t>पर</a:t>
            </a:r>
            <a:br>
              <a:rPr lang="hi-IN" dirty="0"/>
            </a:br>
            <a:r>
              <a:rPr lang="hi-IN" b="1" dirty="0"/>
              <a:t>छोटी</a:t>
            </a:r>
            <a:br>
              <a:rPr lang="hi-IN" dirty="0"/>
            </a:br>
            <a:r>
              <a:rPr lang="hi-IN" b="1" dirty="0"/>
              <a:t>उ की</a:t>
            </a:r>
            <a:br>
              <a:rPr lang="hi-IN" dirty="0"/>
            </a:br>
            <a:r>
              <a:rPr lang="hi-IN" b="1" dirty="0"/>
              <a:t>मात्रा</a:t>
            </a:r>
            <a:br>
              <a:rPr lang="hi-IN" dirty="0"/>
            </a:br>
            <a:r>
              <a:rPr lang="hi-IN" b="1" dirty="0"/>
              <a:t>लगी</a:t>
            </a:r>
            <a:br>
              <a:rPr lang="hi-IN" dirty="0"/>
            </a:br>
            <a:r>
              <a:rPr lang="hi-IN" b="1" dirty="0"/>
              <a:t>है।”</a:t>
            </a:r>
            <a:endParaRPr lang="hi-IN" dirty="0"/>
          </a:p>
          <a:p>
            <a:r>
              <a:rPr lang="hi-IN" dirty="0"/>
              <a:t>फिर:</a:t>
            </a:r>
          </a:p>
          <a:p>
            <a:r>
              <a:rPr lang="hi-IN" b="1" dirty="0"/>
              <a:t>“धनुष</a:t>
            </a:r>
            <a:br>
              <a:rPr lang="hi-IN" dirty="0"/>
            </a:br>
            <a:r>
              <a:rPr lang="hi-IN" b="1" dirty="0"/>
              <a:t>— बोलकर</a:t>
            </a:r>
            <a:br>
              <a:rPr lang="hi-IN" dirty="0"/>
            </a:br>
            <a:r>
              <a:rPr lang="hi-IN" b="1" dirty="0"/>
              <a:t>देखिए।</a:t>
            </a:r>
            <a:br>
              <a:rPr lang="hi-IN" dirty="0"/>
            </a:br>
            <a:r>
              <a:rPr lang="hi-IN" b="1" dirty="0"/>
              <a:t>इसमें</a:t>
            </a:r>
            <a:br>
              <a:rPr lang="hi-IN" dirty="0"/>
            </a:br>
            <a:r>
              <a:rPr lang="hi-IN" b="1" dirty="0"/>
              <a:t>न</a:t>
            </a:r>
            <a:br>
              <a:rPr lang="hi-IN" dirty="0"/>
            </a:br>
            <a:r>
              <a:rPr lang="hi-IN" b="1" dirty="0"/>
              <a:t>पर</a:t>
            </a:r>
            <a:br>
              <a:rPr lang="hi-IN" dirty="0"/>
            </a:br>
            <a:r>
              <a:rPr lang="hi-IN" b="1" dirty="0"/>
              <a:t>छोटी</a:t>
            </a:r>
            <a:br>
              <a:rPr lang="hi-IN" dirty="0"/>
            </a:br>
            <a:r>
              <a:rPr lang="hi-IN" b="1" dirty="0"/>
              <a:t>उ की</a:t>
            </a:r>
            <a:br>
              <a:rPr lang="hi-IN" dirty="0"/>
            </a:br>
            <a:r>
              <a:rPr lang="hi-IN" b="1" dirty="0"/>
              <a:t>मात्रा</a:t>
            </a:r>
            <a:br>
              <a:rPr lang="hi-IN" dirty="0"/>
            </a:br>
            <a:r>
              <a:rPr lang="hi-IN" b="1" dirty="0"/>
              <a:t>लगी</a:t>
            </a:r>
            <a:br>
              <a:rPr lang="hi-IN" dirty="0"/>
            </a:br>
            <a:r>
              <a:rPr lang="hi-IN" b="1" dirty="0"/>
              <a:t>है।”</a:t>
            </a:r>
            <a:endParaRPr lang="hi-IN" dirty="0"/>
          </a:p>
          <a:p>
            <a:r>
              <a:rPr lang="en-IN" b="1" dirty="0"/>
              <a:t>On Screen:</a:t>
            </a:r>
            <a:endParaRPr lang="en-IN" dirty="0"/>
          </a:p>
          <a:p>
            <a:r>
              <a:rPr lang="en-IN" dirty="0"/>
              <a:t>•Keep one example visible at a time.</a:t>
            </a:r>
          </a:p>
          <a:p>
            <a:r>
              <a:rPr lang="en-IN" dirty="0"/>
              <a:t>•First show </a:t>
            </a:r>
            <a:r>
              <a:rPr lang="hi-IN" b="1" dirty="0"/>
              <a:t>गुड़</a:t>
            </a:r>
            <a:r>
              <a:rPr lang="hi-IN" dirty="0"/>
              <a:t> </a:t>
            </a:r>
            <a:r>
              <a:rPr lang="en-IN" dirty="0"/>
              <a:t>with the </a:t>
            </a:r>
            <a:r>
              <a:rPr lang="en-IN" b="1" dirty="0"/>
              <a:t>jaggery image</a:t>
            </a:r>
            <a:r>
              <a:rPr lang="en-IN" dirty="0"/>
              <a:t>.</a:t>
            </a:r>
          </a:p>
          <a:p>
            <a:r>
              <a:rPr lang="en-IN" dirty="0"/>
              <a:t>•Highlight only the </a:t>
            </a:r>
            <a:r>
              <a:rPr lang="hi-IN" b="1" dirty="0"/>
              <a:t>ु</a:t>
            </a:r>
            <a:r>
              <a:rPr lang="hi-IN" dirty="0"/>
              <a:t> </a:t>
            </a:r>
            <a:r>
              <a:rPr lang="en-IN" dirty="0" err="1"/>
              <a:t>matra</a:t>
            </a:r>
            <a:r>
              <a:rPr lang="en-IN" dirty="0"/>
              <a:t> in the word </a:t>
            </a:r>
            <a:r>
              <a:rPr lang="hi-IN" b="1" dirty="0"/>
              <a:t>गुड़</a:t>
            </a:r>
            <a:r>
              <a:rPr lang="hi-IN" dirty="0"/>
              <a:t>.</a:t>
            </a:r>
          </a:p>
          <a:p>
            <a:r>
              <a:rPr lang="hi-IN" dirty="0"/>
              <a:t>•</a:t>
            </a:r>
            <a:r>
              <a:rPr lang="en-IN" dirty="0"/>
              <a:t>After that, show the second example </a:t>
            </a:r>
            <a:r>
              <a:rPr lang="hi-IN" b="1" dirty="0"/>
              <a:t>धनुष</a:t>
            </a:r>
            <a:r>
              <a:rPr lang="hi-IN" dirty="0"/>
              <a:t> </a:t>
            </a:r>
            <a:r>
              <a:rPr lang="en-IN" dirty="0"/>
              <a:t>with a </a:t>
            </a:r>
            <a:r>
              <a:rPr lang="en-IN" b="1" dirty="0"/>
              <a:t>bow image</a:t>
            </a:r>
            <a:r>
              <a:rPr lang="en-IN" dirty="0"/>
              <a:t>.</a:t>
            </a:r>
          </a:p>
          <a:p>
            <a:r>
              <a:rPr lang="en-IN" dirty="0"/>
              <a:t>•Highlight the </a:t>
            </a:r>
            <a:r>
              <a:rPr lang="hi-IN" b="1" dirty="0"/>
              <a:t>ु</a:t>
            </a:r>
            <a:r>
              <a:rPr lang="hi-IN" dirty="0"/>
              <a:t> </a:t>
            </a:r>
            <a:r>
              <a:rPr lang="en-IN" dirty="0" err="1"/>
              <a:t>matra</a:t>
            </a:r>
            <a:r>
              <a:rPr lang="en-IN" dirty="0"/>
              <a:t> in </a:t>
            </a:r>
            <a:r>
              <a:rPr lang="hi-IN" b="1" dirty="0"/>
              <a:t>धनुष</a:t>
            </a:r>
            <a:r>
              <a:rPr lang="hi-IN" dirty="0"/>
              <a:t> </a:t>
            </a:r>
            <a:r>
              <a:rPr lang="en-IN" dirty="0"/>
              <a:t>as well.</a:t>
            </a:r>
          </a:p>
          <a:p>
            <a:r>
              <a:rPr lang="en-IN" b="1" dirty="0"/>
              <a:t>Sequence: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hi-IN" b="1" dirty="0"/>
              <a:t>गुड़</a:t>
            </a:r>
            <a:r>
              <a:rPr lang="hi-IN" dirty="0"/>
              <a:t> </a:t>
            </a:r>
            <a:r>
              <a:rPr lang="en-IN" dirty="0"/>
              <a:t>word appears </a:t>
            </a:r>
          </a:p>
          <a:p>
            <a:pPr>
              <a:buFont typeface="+mj-lt"/>
              <a:buAutoNum type="arabicPeriod"/>
            </a:pPr>
            <a:r>
              <a:rPr lang="en-IN" dirty="0"/>
              <a:t>Jaggery image appears </a:t>
            </a:r>
          </a:p>
          <a:p>
            <a:pPr>
              <a:buFont typeface="+mj-lt"/>
              <a:buAutoNum type="arabicPeriod"/>
            </a:pPr>
            <a:r>
              <a:rPr lang="en-IN" dirty="0"/>
              <a:t>The </a:t>
            </a:r>
            <a:r>
              <a:rPr lang="hi-IN" b="1" dirty="0"/>
              <a:t>ु</a:t>
            </a:r>
            <a:r>
              <a:rPr lang="hi-IN" dirty="0"/>
              <a:t> </a:t>
            </a:r>
            <a:r>
              <a:rPr lang="en-IN" dirty="0" err="1"/>
              <a:t>matra</a:t>
            </a:r>
            <a:r>
              <a:rPr lang="en-IN" dirty="0"/>
              <a:t> in </a:t>
            </a:r>
            <a:r>
              <a:rPr lang="hi-IN" b="1" dirty="0"/>
              <a:t>गुड़</a:t>
            </a:r>
            <a:r>
              <a:rPr lang="hi-IN" dirty="0"/>
              <a:t> </a:t>
            </a:r>
            <a:r>
              <a:rPr lang="en-IN" dirty="0"/>
              <a:t>gets highlighted </a:t>
            </a:r>
          </a:p>
          <a:p>
            <a:pPr>
              <a:buFont typeface="+mj-lt"/>
              <a:buAutoNum type="arabicPeriod"/>
            </a:pPr>
            <a:r>
              <a:rPr lang="en-IN" dirty="0"/>
              <a:t>Then move to </a:t>
            </a:r>
            <a:r>
              <a:rPr lang="hi-IN" b="1" dirty="0"/>
              <a:t>धनुष</a:t>
            </a:r>
            <a:r>
              <a:rPr lang="hi-IN" dirty="0"/>
              <a:t> </a:t>
            </a:r>
          </a:p>
          <a:p>
            <a:pPr>
              <a:buFont typeface="+mj-lt"/>
              <a:buAutoNum type="arabicPeriod"/>
            </a:pPr>
            <a:r>
              <a:rPr lang="hi-IN" b="1" dirty="0"/>
              <a:t>धनुष</a:t>
            </a:r>
            <a:r>
              <a:rPr lang="hi-IN" dirty="0"/>
              <a:t> </a:t>
            </a:r>
            <a:r>
              <a:rPr lang="en-IN" dirty="0"/>
              <a:t>word appears </a:t>
            </a:r>
          </a:p>
          <a:p>
            <a:pPr>
              <a:buFont typeface="+mj-lt"/>
              <a:buAutoNum type="arabicPeriod"/>
            </a:pPr>
            <a:r>
              <a:rPr lang="en-IN" dirty="0"/>
              <a:t>Bow image appears </a:t>
            </a:r>
          </a:p>
          <a:p>
            <a:pPr>
              <a:buFont typeface="+mj-lt"/>
              <a:buAutoNum type="arabicPeriod"/>
            </a:pPr>
            <a:r>
              <a:rPr lang="en-IN" dirty="0"/>
              <a:t>The </a:t>
            </a:r>
            <a:r>
              <a:rPr lang="hi-IN" b="1" dirty="0"/>
              <a:t>ु</a:t>
            </a:r>
            <a:r>
              <a:rPr lang="hi-IN" dirty="0"/>
              <a:t> </a:t>
            </a:r>
            <a:r>
              <a:rPr lang="en-IN" dirty="0" err="1"/>
              <a:t>matra</a:t>
            </a:r>
            <a:r>
              <a:rPr lang="en-IN" dirty="0"/>
              <a:t> in </a:t>
            </a:r>
            <a:r>
              <a:rPr lang="hi-IN" b="1" dirty="0"/>
              <a:t>धनुष</a:t>
            </a:r>
            <a:r>
              <a:rPr lang="hi-IN" dirty="0"/>
              <a:t> </a:t>
            </a:r>
            <a:r>
              <a:rPr lang="en-IN" dirty="0"/>
              <a:t>gets highlighted </a:t>
            </a:r>
          </a:p>
          <a:p>
            <a:r>
              <a:rPr lang="en-IN" b="1" dirty="0"/>
              <a:t>Animation:</a:t>
            </a:r>
            <a:endParaRPr lang="en-IN" dirty="0"/>
          </a:p>
          <a:p>
            <a:r>
              <a:rPr lang="en-IN" dirty="0"/>
              <a:t>•Word should appear first, then image should appear.</a:t>
            </a:r>
          </a:p>
          <a:p>
            <a:r>
              <a:rPr lang="en-IN" dirty="0"/>
              <a:t>•Use simple </a:t>
            </a:r>
            <a:r>
              <a:rPr lang="en-IN" b="1" dirty="0"/>
              <a:t>fade / pop-in animation</a:t>
            </a:r>
            <a:r>
              <a:rPr lang="en-IN" dirty="0"/>
              <a:t>.</a:t>
            </a:r>
          </a:p>
          <a:p>
            <a:r>
              <a:rPr lang="en-IN" dirty="0"/>
              <a:t>•When VO says the </a:t>
            </a:r>
            <a:r>
              <a:rPr lang="en-IN" dirty="0" err="1"/>
              <a:t>matra</a:t>
            </a:r>
            <a:r>
              <a:rPr lang="en-IN" dirty="0"/>
              <a:t> part, the </a:t>
            </a:r>
            <a:r>
              <a:rPr lang="hi-IN" b="1" dirty="0"/>
              <a:t>ु</a:t>
            </a:r>
            <a:r>
              <a:rPr lang="hi-IN" dirty="0"/>
              <a:t> </a:t>
            </a:r>
            <a:r>
              <a:rPr lang="en-IN" dirty="0"/>
              <a:t>should glow/highlight.</a:t>
            </a:r>
          </a:p>
          <a:p>
            <a:r>
              <a:rPr lang="en-IN" dirty="0"/>
              <a:t>•Keep animation one by one, not all together.</a:t>
            </a:r>
          </a:p>
          <a:p>
            <a:r>
              <a:rPr lang="en-IN" b="1" dirty="0"/>
              <a:t>SFX:</a:t>
            </a:r>
            <a:endParaRPr lang="en-IN" dirty="0"/>
          </a:p>
          <a:p>
            <a:r>
              <a:rPr lang="en-IN" dirty="0"/>
              <a:t>•Soft pop sound when word/image appears</a:t>
            </a:r>
          </a:p>
          <a:p>
            <a:r>
              <a:rPr lang="en-IN" dirty="0"/>
              <a:t>•Soft highlight chime when </a:t>
            </a:r>
            <a:r>
              <a:rPr lang="en-IN" dirty="0" err="1"/>
              <a:t>matra</a:t>
            </a:r>
            <a:r>
              <a:rPr lang="en-IN" dirty="0"/>
              <a:t> glows</a:t>
            </a:r>
          </a:p>
          <a:p>
            <a:r>
              <a:rPr lang="en-IN" dirty="0"/>
              <a:t>•Keep SFX subtle</a:t>
            </a:r>
          </a:p>
          <a:p>
            <a:r>
              <a:rPr lang="en-IN" b="1" dirty="0"/>
              <a:t>Next Button:</a:t>
            </a:r>
            <a:endParaRPr lang="en-IN" dirty="0"/>
          </a:p>
          <a:p>
            <a:r>
              <a:rPr lang="en-IN" dirty="0"/>
              <a:t>•Keep </a:t>
            </a:r>
            <a:r>
              <a:rPr lang="en-IN" b="1" dirty="0"/>
              <a:t>Next</a:t>
            </a:r>
            <a:r>
              <a:rPr lang="en-IN" dirty="0"/>
              <a:t> button disabled during the explanation.</a:t>
            </a:r>
          </a:p>
          <a:p>
            <a:r>
              <a:rPr lang="en-IN" dirty="0"/>
              <a:t>•Activate it only after both examples are shown completely.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547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Recommendation</a:t>
            </a:r>
            <a:endParaRPr lang="en-IN" dirty="0"/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dirty="0"/>
              <a:t>“</a:t>
            </a:r>
            <a:r>
              <a:rPr lang="hi-IN" dirty="0"/>
              <a:t>आइए, देखें कि बड़ी ऊ की मात्रा लगने से शब्द की आवाज़ कैसे बदलती है।”</a:t>
            </a:r>
          </a:p>
          <a:p>
            <a:r>
              <a:rPr lang="hi-IN" dirty="0"/>
              <a:t>पहले:</a:t>
            </a:r>
          </a:p>
          <a:p>
            <a:r>
              <a:rPr lang="hi-IN" b="1" dirty="0"/>
              <a:t>“यह शब्द देखिए — फल।”</a:t>
            </a:r>
            <a:endParaRPr lang="hi-IN" dirty="0"/>
          </a:p>
          <a:p>
            <a:r>
              <a:rPr lang="hi-IN" dirty="0"/>
              <a:t>फिर:</a:t>
            </a:r>
          </a:p>
          <a:p>
            <a:r>
              <a:rPr lang="hi-IN" b="1" dirty="0"/>
              <a:t>“फ के साथ बड़ी ऊ की मात्रा लगाने पर ‘फू’ बनता है।”</a:t>
            </a:r>
            <a:endParaRPr lang="hi-IN" dirty="0"/>
          </a:p>
          <a:p>
            <a:r>
              <a:rPr lang="hi-IN" dirty="0"/>
              <a:t>अंत में:</a:t>
            </a:r>
          </a:p>
          <a:p>
            <a:r>
              <a:rPr lang="hi-IN" b="1" dirty="0"/>
              <a:t>“अब ‘ल’ जुड़ने पर ‘फूल’ बनता है।”</a:t>
            </a:r>
            <a:endParaRPr lang="hi-IN" dirty="0"/>
          </a:p>
          <a:p>
            <a:r>
              <a:rPr lang="en-IN" b="1" dirty="0"/>
              <a:t>On Screen:</a:t>
            </a:r>
            <a:endParaRPr lang="en-IN" dirty="0"/>
          </a:p>
          <a:p>
            <a:r>
              <a:rPr lang="en-IN" dirty="0"/>
              <a:t>•Keep the screen focused on only </a:t>
            </a:r>
            <a:r>
              <a:rPr lang="en-IN" b="1" dirty="0"/>
              <a:t>one transformation</a:t>
            </a:r>
            <a:r>
              <a:rPr lang="en-IN" dirty="0"/>
              <a:t>.</a:t>
            </a:r>
          </a:p>
          <a:p>
            <a:r>
              <a:rPr lang="en-IN" dirty="0"/>
              <a:t>•First show </a:t>
            </a:r>
            <a:r>
              <a:rPr lang="hi-IN" b="1" dirty="0"/>
              <a:t>फल</a:t>
            </a:r>
            <a:r>
              <a:rPr lang="hi-IN" dirty="0"/>
              <a:t> </a:t>
            </a:r>
            <a:r>
              <a:rPr lang="en-IN" dirty="0"/>
              <a:t>clearly on the left.</a:t>
            </a:r>
          </a:p>
          <a:p>
            <a:r>
              <a:rPr lang="en-IN" dirty="0"/>
              <a:t>•Then show the transformation in the centre:</a:t>
            </a:r>
          </a:p>
          <a:p>
            <a:r>
              <a:rPr lang="hi-IN" b="1" dirty="0"/>
              <a:t>फ + ू = फू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Highlight only the </a:t>
            </a:r>
            <a:r>
              <a:rPr lang="hi-IN" b="1" dirty="0"/>
              <a:t>ू</a:t>
            </a:r>
            <a:r>
              <a:rPr lang="hi-IN" dirty="0"/>
              <a:t> मात्रा </a:t>
            </a:r>
            <a:r>
              <a:rPr lang="en-IN" dirty="0"/>
              <a:t>in red when it is introduced.</a:t>
            </a:r>
          </a:p>
          <a:p>
            <a:r>
              <a:rPr lang="en-IN" dirty="0"/>
              <a:t>•After that, show the final word:</a:t>
            </a:r>
          </a:p>
          <a:p>
            <a:r>
              <a:rPr lang="hi-IN" b="1" dirty="0"/>
              <a:t>फूल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Highlight the </a:t>
            </a:r>
            <a:r>
              <a:rPr lang="hi-IN" b="1" dirty="0"/>
              <a:t>ू</a:t>
            </a:r>
            <a:r>
              <a:rPr lang="hi-IN" dirty="0"/>
              <a:t> मात्रा </a:t>
            </a:r>
            <a:r>
              <a:rPr lang="en-IN" dirty="0"/>
              <a:t>again inside </a:t>
            </a:r>
            <a:r>
              <a:rPr lang="hi-IN" b="1" dirty="0"/>
              <a:t>फूल</a:t>
            </a:r>
            <a:r>
              <a:rPr lang="hi-IN" dirty="0"/>
              <a:t>.</a:t>
            </a:r>
          </a:p>
          <a:p>
            <a:r>
              <a:rPr lang="hi-IN" dirty="0"/>
              <a:t>•</a:t>
            </a:r>
            <a:r>
              <a:rPr lang="en-IN" dirty="0"/>
              <a:t>Show the </a:t>
            </a:r>
            <a:r>
              <a:rPr lang="en-IN" b="1" dirty="0"/>
              <a:t>flower image</a:t>
            </a:r>
            <a:r>
              <a:rPr lang="en-IN" dirty="0"/>
              <a:t> only after the final word appears.</a:t>
            </a:r>
          </a:p>
          <a:p>
            <a:r>
              <a:rPr lang="en-IN" dirty="0"/>
              <a:t>•Keep the existing mascot and overall UI/UX style unchanged.</a:t>
            </a:r>
          </a:p>
          <a:p>
            <a:r>
              <a:rPr lang="en-IN" dirty="0"/>
              <a:t>•Keep the screen clean and minimal.</a:t>
            </a:r>
          </a:p>
          <a:p>
            <a:r>
              <a:rPr lang="en-IN" b="1" dirty="0"/>
              <a:t>Sequence: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hi-IN" b="1" dirty="0"/>
              <a:t>फल</a:t>
            </a:r>
            <a:r>
              <a:rPr lang="hi-IN" dirty="0"/>
              <a:t> </a:t>
            </a:r>
            <a:r>
              <a:rPr lang="en-IN" dirty="0"/>
              <a:t>word appears. </a:t>
            </a:r>
          </a:p>
          <a:p>
            <a:pPr>
              <a:buFont typeface="+mj-lt"/>
              <a:buAutoNum type="arabicPeriod"/>
            </a:pPr>
            <a:r>
              <a:rPr lang="en-IN" dirty="0"/>
              <a:t>VO reads: </a:t>
            </a:r>
            <a:r>
              <a:rPr lang="en-IN" b="1" dirty="0"/>
              <a:t>“</a:t>
            </a:r>
            <a:r>
              <a:rPr lang="hi-IN" b="1" dirty="0"/>
              <a:t>यह शब्द देखिए — फल।”</a:t>
            </a:r>
            <a:r>
              <a:rPr lang="hi-IN" dirty="0"/>
              <a:t> </a:t>
            </a:r>
          </a:p>
          <a:p>
            <a:pPr>
              <a:buFont typeface="+mj-lt"/>
              <a:buAutoNum type="arabicPeriod"/>
            </a:pPr>
            <a:r>
              <a:rPr lang="en-IN" dirty="0"/>
              <a:t>Highlight </a:t>
            </a:r>
            <a:r>
              <a:rPr lang="hi-IN" b="1" dirty="0"/>
              <a:t>फ</a:t>
            </a:r>
            <a:r>
              <a:rPr lang="hi-IN" dirty="0"/>
              <a:t>. </a:t>
            </a:r>
          </a:p>
          <a:p>
            <a:pPr>
              <a:buFont typeface="+mj-lt"/>
              <a:buAutoNum type="arabicPeriod"/>
            </a:pPr>
            <a:r>
              <a:rPr lang="en-IN" dirty="0"/>
              <a:t>The </a:t>
            </a:r>
            <a:r>
              <a:rPr lang="hi-IN" b="1" dirty="0"/>
              <a:t>ू</a:t>
            </a:r>
            <a:r>
              <a:rPr lang="hi-IN" dirty="0"/>
              <a:t> मात्रा </a:t>
            </a:r>
            <a:r>
              <a:rPr lang="en-IN" dirty="0"/>
              <a:t>appears and joins </a:t>
            </a:r>
            <a:r>
              <a:rPr lang="hi-IN" b="1" dirty="0"/>
              <a:t>फ</a:t>
            </a:r>
            <a:r>
              <a:rPr lang="hi-IN" dirty="0"/>
              <a:t>. </a:t>
            </a:r>
          </a:p>
          <a:p>
            <a:pPr>
              <a:buFont typeface="+mj-lt"/>
              <a:buAutoNum type="arabicPeriod"/>
            </a:pPr>
            <a:r>
              <a:rPr lang="en-IN" dirty="0"/>
              <a:t>Show: </a:t>
            </a:r>
          </a:p>
          <a:p>
            <a:r>
              <a:rPr lang="hi-IN" b="1" dirty="0"/>
              <a:t>फ + ू = फू</a:t>
            </a:r>
            <a:endParaRPr lang="hi-IN" dirty="0"/>
          </a:p>
          <a:p>
            <a:pPr>
              <a:buFont typeface="+mj-lt"/>
              <a:buAutoNum type="arabicPeriod" startAt="6"/>
            </a:pPr>
            <a:r>
              <a:rPr lang="en-IN" dirty="0"/>
              <a:t>VO says: </a:t>
            </a:r>
          </a:p>
          <a:p>
            <a:r>
              <a:rPr lang="en-IN" b="1" dirty="0"/>
              <a:t>“</a:t>
            </a:r>
            <a:r>
              <a:rPr lang="hi-IN" b="1" dirty="0"/>
              <a:t>फ के साथ बड़ी ऊ की मात्रा लगाने पर ‘फू’ बनता है।”</a:t>
            </a:r>
            <a:endParaRPr lang="hi-IN" dirty="0"/>
          </a:p>
          <a:p>
            <a:pPr>
              <a:buFont typeface="+mj-lt"/>
              <a:buAutoNum type="arabicPeriod" startAt="7"/>
            </a:pPr>
            <a:r>
              <a:rPr lang="en-IN" dirty="0"/>
              <a:t>Then </a:t>
            </a:r>
            <a:r>
              <a:rPr lang="hi-IN" b="1" dirty="0"/>
              <a:t>ल</a:t>
            </a:r>
            <a:r>
              <a:rPr lang="hi-IN" dirty="0"/>
              <a:t> </a:t>
            </a:r>
            <a:r>
              <a:rPr lang="en-IN" dirty="0"/>
              <a:t>joins. </a:t>
            </a:r>
          </a:p>
          <a:p>
            <a:pPr>
              <a:buFont typeface="+mj-lt"/>
              <a:buAutoNum type="arabicPeriod" startAt="7"/>
            </a:pPr>
            <a:r>
              <a:rPr lang="en-IN" dirty="0"/>
              <a:t>Final word </a:t>
            </a:r>
            <a:r>
              <a:rPr lang="hi-IN" b="1" dirty="0"/>
              <a:t>फूल</a:t>
            </a:r>
            <a:r>
              <a:rPr lang="hi-IN" dirty="0"/>
              <a:t> </a:t>
            </a:r>
            <a:r>
              <a:rPr lang="en-IN" dirty="0"/>
              <a:t>appears. </a:t>
            </a:r>
          </a:p>
          <a:p>
            <a:pPr>
              <a:buFont typeface="+mj-lt"/>
              <a:buAutoNum type="arabicPeriod" startAt="7"/>
            </a:pPr>
            <a:r>
              <a:rPr lang="en-IN" dirty="0"/>
              <a:t>Highlight the </a:t>
            </a:r>
            <a:r>
              <a:rPr lang="hi-IN" b="1" dirty="0"/>
              <a:t>ू</a:t>
            </a:r>
            <a:r>
              <a:rPr lang="hi-IN" dirty="0"/>
              <a:t> मात्रा </a:t>
            </a:r>
            <a:r>
              <a:rPr lang="en-IN" dirty="0"/>
              <a:t>inside </a:t>
            </a:r>
            <a:r>
              <a:rPr lang="hi-IN" b="1" dirty="0"/>
              <a:t>फूल</a:t>
            </a:r>
            <a:r>
              <a:rPr lang="hi-IN" dirty="0"/>
              <a:t>. </a:t>
            </a:r>
          </a:p>
          <a:p>
            <a:pPr>
              <a:buFont typeface="+mj-lt"/>
              <a:buAutoNum type="arabicPeriod" startAt="7"/>
            </a:pPr>
            <a:r>
              <a:rPr lang="en-IN" dirty="0"/>
              <a:t>Flower image appears. </a:t>
            </a:r>
          </a:p>
          <a:p>
            <a:r>
              <a:rPr lang="en-IN" b="1" dirty="0"/>
              <a:t>Animation:</a:t>
            </a:r>
            <a:endParaRPr lang="en-IN" dirty="0"/>
          </a:p>
          <a:p>
            <a:r>
              <a:rPr lang="en-IN" dirty="0"/>
              <a:t>•Do not show all stages together at the beginning.</a:t>
            </a:r>
          </a:p>
          <a:p>
            <a:r>
              <a:rPr lang="en-IN" dirty="0"/>
              <a:t>•First show </a:t>
            </a:r>
            <a:r>
              <a:rPr lang="hi-IN" b="1" dirty="0"/>
              <a:t>फल</a:t>
            </a:r>
            <a:r>
              <a:rPr lang="hi-IN" dirty="0"/>
              <a:t>.</a:t>
            </a:r>
          </a:p>
          <a:p>
            <a:r>
              <a:rPr lang="hi-IN" dirty="0"/>
              <a:t>•</a:t>
            </a:r>
            <a:r>
              <a:rPr lang="en-IN" dirty="0"/>
              <a:t>Then isolate/highlight </a:t>
            </a:r>
            <a:r>
              <a:rPr lang="hi-IN" b="1" dirty="0"/>
              <a:t>फ</a:t>
            </a:r>
            <a:r>
              <a:rPr lang="hi-IN" dirty="0"/>
              <a:t>.</a:t>
            </a:r>
          </a:p>
          <a:p>
            <a:r>
              <a:rPr lang="hi-IN" dirty="0"/>
              <a:t>•</a:t>
            </a:r>
            <a:r>
              <a:rPr lang="en-IN" dirty="0"/>
              <a:t>The </a:t>
            </a:r>
            <a:r>
              <a:rPr lang="hi-IN" b="1" dirty="0"/>
              <a:t>ू</a:t>
            </a:r>
            <a:r>
              <a:rPr lang="hi-IN" dirty="0"/>
              <a:t> मात्रा </a:t>
            </a:r>
            <a:r>
              <a:rPr lang="en-IN" dirty="0"/>
              <a:t>should softly pop/slide into its correct position.</a:t>
            </a:r>
          </a:p>
          <a:p>
            <a:r>
              <a:rPr lang="en-IN" dirty="0"/>
              <a:t>•As soon as the </a:t>
            </a:r>
            <a:r>
              <a:rPr lang="hi-IN" dirty="0"/>
              <a:t>मात्रा </a:t>
            </a:r>
            <a:r>
              <a:rPr lang="en-IN" dirty="0"/>
              <a:t>joins, visually transform:</a:t>
            </a:r>
          </a:p>
          <a:p>
            <a:r>
              <a:rPr lang="hi-IN" b="1" dirty="0"/>
              <a:t>फ → फू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Then </a:t>
            </a:r>
            <a:r>
              <a:rPr lang="hi-IN" b="1" dirty="0"/>
              <a:t>ल</a:t>
            </a:r>
            <a:r>
              <a:rPr lang="hi-IN" dirty="0"/>
              <a:t> </a:t>
            </a:r>
            <a:r>
              <a:rPr lang="en-IN" dirty="0"/>
              <a:t>should join to form:</a:t>
            </a:r>
          </a:p>
          <a:p>
            <a:r>
              <a:rPr lang="hi-IN" b="1" dirty="0"/>
              <a:t>फू → फूल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After the word is completed, the flower image can appear with a soft fade/pop animation.</a:t>
            </a:r>
          </a:p>
          <a:p>
            <a:r>
              <a:rPr lang="en-IN" dirty="0"/>
              <a:t>•Keep the visual transformation synced with the VO.</a:t>
            </a:r>
          </a:p>
          <a:p>
            <a:r>
              <a:rPr lang="en-IN" b="1" dirty="0"/>
              <a:t>Sound Differentiation:</a:t>
            </a:r>
            <a:endParaRPr lang="en-IN" dirty="0"/>
          </a:p>
          <a:p>
            <a:r>
              <a:rPr lang="en-IN" dirty="0"/>
              <a:t>Make the sound change very clear:</a:t>
            </a:r>
          </a:p>
          <a:p>
            <a:r>
              <a:rPr lang="hi-IN" b="1" dirty="0"/>
              <a:t>फ</a:t>
            </a:r>
            <a:br>
              <a:rPr lang="hi-IN" dirty="0"/>
            </a:br>
            <a:r>
              <a:rPr lang="hi-IN" b="1" dirty="0"/>
              <a:t>फू</a:t>
            </a:r>
            <a:br>
              <a:rPr lang="hi-IN" dirty="0"/>
            </a:br>
            <a:r>
              <a:rPr lang="hi-IN" b="1" dirty="0"/>
              <a:t>फूल</a:t>
            </a:r>
            <a:endParaRPr lang="hi-IN" dirty="0"/>
          </a:p>
          <a:p>
            <a:r>
              <a:rPr lang="en-IN" dirty="0"/>
              <a:t>Give a short pause between each sound so the child can clearly hear how the sound changes after adding </a:t>
            </a:r>
            <a:r>
              <a:rPr lang="hi-IN" b="1" dirty="0"/>
              <a:t>ू</a:t>
            </a:r>
            <a:r>
              <a:rPr lang="hi-IN" dirty="0"/>
              <a:t>.</a:t>
            </a:r>
          </a:p>
          <a:p>
            <a:r>
              <a:rPr lang="en-IN" b="1" dirty="0"/>
              <a:t>SFX:</a:t>
            </a:r>
            <a:endParaRPr lang="en-IN" dirty="0"/>
          </a:p>
          <a:p>
            <a:r>
              <a:rPr lang="en-IN" dirty="0"/>
              <a:t>•Soft pop when </a:t>
            </a:r>
            <a:r>
              <a:rPr lang="hi-IN" b="1" dirty="0"/>
              <a:t>ू</a:t>
            </a:r>
            <a:r>
              <a:rPr lang="hi-IN" dirty="0"/>
              <a:t> </a:t>
            </a:r>
            <a:r>
              <a:rPr lang="en-IN" dirty="0"/>
              <a:t>appears.</a:t>
            </a:r>
          </a:p>
          <a:p>
            <a:r>
              <a:rPr lang="en-IN" dirty="0"/>
              <a:t>•Light chime when </a:t>
            </a:r>
            <a:r>
              <a:rPr lang="hi-IN" b="1" dirty="0"/>
              <a:t>फ → फू</a:t>
            </a:r>
            <a:r>
              <a:rPr lang="hi-IN" dirty="0"/>
              <a:t> </a:t>
            </a:r>
            <a:r>
              <a:rPr lang="en-IN" dirty="0"/>
              <a:t>is completed.</a:t>
            </a:r>
          </a:p>
          <a:p>
            <a:r>
              <a:rPr lang="en-IN" dirty="0"/>
              <a:t>•Small success sound when </a:t>
            </a:r>
            <a:r>
              <a:rPr lang="hi-IN" b="1" dirty="0"/>
              <a:t>फूल</a:t>
            </a:r>
            <a:r>
              <a:rPr lang="hi-IN" dirty="0"/>
              <a:t> </a:t>
            </a:r>
            <a:r>
              <a:rPr lang="en-IN" dirty="0"/>
              <a:t>is formed.</a:t>
            </a:r>
          </a:p>
          <a:p>
            <a:r>
              <a:rPr lang="en-IN" dirty="0"/>
              <a:t>•Keep SFX subtle so pronunciation remains clear.</a:t>
            </a:r>
          </a:p>
          <a:p>
            <a:r>
              <a:rPr lang="en-IN" b="1" dirty="0"/>
              <a:t>Next Button:</a:t>
            </a:r>
            <a:endParaRPr lang="en-IN" dirty="0"/>
          </a:p>
          <a:p>
            <a:r>
              <a:rPr lang="en-IN" dirty="0"/>
              <a:t>•Keep the </a:t>
            </a:r>
            <a:r>
              <a:rPr lang="en-IN" b="1" dirty="0"/>
              <a:t>Next</a:t>
            </a:r>
            <a:r>
              <a:rPr lang="en-IN" dirty="0"/>
              <a:t> button disabled during the complete transformation.</a:t>
            </a:r>
          </a:p>
          <a:p>
            <a:r>
              <a:rPr lang="en-IN" dirty="0"/>
              <a:t>•Activate it only after </a:t>
            </a:r>
            <a:r>
              <a:rPr lang="hi-IN" b="1" dirty="0"/>
              <a:t>फ → फू → फूल</a:t>
            </a:r>
            <a:r>
              <a:rPr lang="hi-IN" dirty="0"/>
              <a:t> </a:t>
            </a:r>
            <a:r>
              <a:rPr lang="en-IN" dirty="0"/>
              <a:t>has been fully demonstrated and the flower image appears.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505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Recommendation</a:t>
            </a:r>
            <a:endParaRPr lang="en-IN" dirty="0"/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dirty="0"/>
              <a:t>“</a:t>
            </a:r>
            <a:r>
              <a:rPr lang="hi-IN" dirty="0"/>
              <a:t>आइए, बड़ी ऊ की मात्रा वाले कुछ शब्द देखें।”</a:t>
            </a:r>
          </a:p>
          <a:p>
            <a:r>
              <a:rPr lang="hi-IN" dirty="0"/>
              <a:t>पहले:</a:t>
            </a:r>
          </a:p>
          <a:p>
            <a:r>
              <a:rPr lang="hi-IN" b="1" dirty="0"/>
              <a:t>“दूध</a:t>
            </a:r>
            <a:br>
              <a:rPr lang="hi-IN" dirty="0"/>
            </a:br>
            <a:r>
              <a:rPr lang="hi-IN" b="1" dirty="0"/>
              <a:t>— बोलकर</a:t>
            </a:r>
            <a:br>
              <a:rPr lang="hi-IN" dirty="0"/>
            </a:br>
            <a:r>
              <a:rPr lang="hi-IN" b="1" dirty="0"/>
              <a:t>देखिए।</a:t>
            </a:r>
            <a:br>
              <a:rPr lang="hi-IN" dirty="0"/>
            </a:br>
            <a:r>
              <a:rPr lang="hi-IN" b="1" dirty="0"/>
              <a:t>इसमें</a:t>
            </a:r>
            <a:br>
              <a:rPr lang="hi-IN" dirty="0"/>
            </a:br>
            <a:r>
              <a:rPr lang="hi-IN" b="1" dirty="0"/>
              <a:t>द</a:t>
            </a:r>
            <a:br>
              <a:rPr lang="hi-IN" dirty="0"/>
            </a:br>
            <a:r>
              <a:rPr lang="hi-IN" b="1" dirty="0"/>
              <a:t>पर</a:t>
            </a:r>
            <a:br>
              <a:rPr lang="hi-IN" dirty="0"/>
            </a:br>
            <a:r>
              <a:rPr lang="hi-IN" b="1" dirty="0"/>
              <a:t>बड़ी</a:t>
            </a:r>
            <a:br>
              <a:rPr lang="hi-IN" dirty="0"/>
            </a:br>
            <a:r>
              <a:rPr lang="hi-IN" b="1" dirty="0"/>
              <a:t>ऊ की</a:t>
            </a:r>
            <a:br>
              <a:rPr lang="hi-IN" dirty="0"/>
            </a:br>
            <a:r>
              <a:rPr lang="hi-IN" b="1" dirty="0"/>
              <a:t>मात्रा</a:t>
            </a:r>
            <a:br>
              <a:rPr lang="hi-IN" dirty="0"/>
            </a:br>
            <a:r>
              <a:rPr lang="hi-IN" b="1" dirty="0"/>
              <a:t>लगी</a:t>
            </a:r>
            <a:br>
              <a:rPr lang="hi-IN" dirty="0"/>
            </a:br>
            <a:r>
              <a:rPr lang="hi-IN" b="1" dirty="0"/>
              <a:t>है।”</a:t>
            </a:r>
            <a:endParaRPr lang="hi-IN" dirty="0"/>
          </a:p>
          <a:p>
            <a:r>
              <a:rPr lang="hi-IN" dirty="0"/>
              <a:t>फिर:</a:t>
            </a:r>
          </a:p>
          <a:p>
            <a:r>
              <a:rPr lang="hi-IN" b="1" dirty="0"/>
              <a:t>“कबूतर</a:t>
            </a:r>
            <a:br>
              <a:rPr lang="hi-IN" dirty="0"/>
            </a:br>
            <a:r>
              <a:rPr lang="hi-IN" b="1" dirty="0"/>
              <a:t>— बोलकर</a:t>
            </a:r>
            <a:br>
              <a:rPr lang="hi-IN" dirty="0"/>
            </a:br>
            <a:r>
              <a:rPr lang="hi-IN" b="1" dirty="0"/>
              <a:t>देखिए।</a:t>
            </a:r>
            <a:br>
              <a:rPr lang="hi-IN" dirty="0"/>
            </a:br>
            <a:r>
              <a:rPr lang="hi-IN" b="1" dirty="0"/>
              <a:t>इसमें</a:t>
            </a:r>
            <a:br>
              <a:rPr lang="hi-IN" dirty="0"/>
            </a:br>
            <a:r>
              <a:rPr lang="hi-IN" b="1" dirty="0"/>
              <a:t>ब</a:t>
            </a:r>
            <a:br>
              <a:rPr lang="hi-IN" dirty="0"/>
            </a:br>
            <a:r>
              <a:rPr lang="hi-IN" b="1" dirty="0"/>
              <a:t>पर</a:t>
            </a:r>
            <a:br>
              <a:rPr lang="hi-IN" dirty="0"/>
            </a:br>
            <a:r>
              <a:rPr lang="hi-IN" b="1" dirty="0"/>
              <a:t>बड़ी</a:t>
            </a:r>
            <a:br>
              <a:rPr lang="hi-IN" dirty="0"/>
            </a:br>
            <a:r>
              <a:rPr lang="hi-IN" b="1" dirty="0"/>
              <a:t>ऊ की</a:t>
            </a:r>
            <a:br>
              <a:rPr lang="hi-IN" dirty="0"/>
            </a:br>
            <a:r>
              <a:rPr lang="hi-IN" b="1" dirty="0"/>
              <a:t>मात्रा</a:t>
            </a:r>
            <a:br>
              <a:rPr lang="hi-IN" dirty="0"/>
            </a:br>
            <a:r>
              <a:rPr lang="hi-IN" b="1" dirty="0"/>
              <a:t>लगी</a:t>
            </a:r>
            <a:br>
              <a:rPr lang="hi-IN" dirty="0"/>
            </a:br>
            <a:r>
              <a:rPr lang="hi-IN" b="1" dirty="0"/>
              <a:t>है।”</a:t>
            </a:r>
            <a:endParaRPr lang="hi-IN" dirty="0"/>
          </a:p>
          <a:p>
            <a:r>
              <a:rPr lang="en-IN" b="1" dirty="0"/>
              <a:t>On Screen:</a:t>
            </a:r>
            <a:endParaRPr lang="en-IN" dirty="0"/>
          </a:p>
          <a:p>
            <a:r>
              <a:rPr lang="en-IN" dirty="0"/>
              <a:t>•Keep one example visible at a time.</a:t>
            </a:r>
          </a:p>
          <a:p>
            <a:r>
              <a:rPr lang="en-IN" dirty="0"/>
              <a:t>•First show </a:t>
            </a:r>
            <a:r>
              <a:rPr lang="hi-IN" b="1" dirty="0"/>
              <a:t>दूध</a:t>
            </a:r>
            <a:r>
              <a:rPr lang="hi-IN" dirty="0"/>
              <a:t> </a:t>
            </a:r>
            <a:r>
              <a:rPr lang="en-IN" dirty="0"/>
              <a:t>with the </a:t>
            </a:r>
            <a:r>
              <a:rPr lang="en-IN" b="1" dirty="0"/>
              <a:t>milk image</a:t>
            </a:r>
            <a:r>
              <a:rPr lang="en-IN" dirty="0"/>
              <a:t>.</a:t>
            </a:r>
          </a:p>
          <a:p>
            <a:r>
              <a:rPr lang="en-IN" dirty="0"/>
              <a:t>•Highlight only the </a:t>
            </a:r>
            <a:r>
              <a:rPr lang="hi-IN" b="1" dirty="0"/>
              <a:t>ू</a:t>
            </a:r>
            <a:r>
              <a:rPr lang="hi-IN" dirty="0"/>
              <a:t> </a:t>
            </a:r>
            <a:r>
              <a:rPr lang="en-IN" dirty="0" err="1"/>
              <a:t>matra</a:t>
            </a:r>
            <a:r>
              <a:rPr lang="en-IN" dirty="0"/>
              <a:t> in the word </a:t>
            </a:r>
            <a:r>
              <a:rPr lang="hi-IN" b="1" dirty="0"/>
              <a:t>दूध</a:t>
            </a:r>
            <a:r>
              <a:rPr lang="hi-IN" dirty="0"/>
              <a:t>.</a:t>
            </a:r>
          </a:p>
          <a:p>
            <a:r>
              <a:rPr lang="hi-IN" dirty="0"/>
              <a:t>•</a:t>
            </a:r>
            <a:r>
              <a:rPr lang="en-IN" dirty="0"/>
              <a:t>After that, show the second example </a:t>
            </a:r>
            <a:r>
              <a:rPr lang="hi-IN" b="1" dirty="0"/>
              <a:t>कबूतर</a:t>
            </a:r>
            <a:r>
              <a:rPr lang="hi-IN" dirty="0"/>
              <a:t> </a:t>
            </a:r>
            <a:r>
              <a:rPr lang="en-IN" dirty="0"/>
              <a:t>with the </a:t>
            </a:r>
            <a:r>
              <a:rPr lang="en-IN" b="1" dirty="0"/>
              <a:t>pigeon image</a:t>
            </a:r>
            <a:r>
              <a:rPr lang="en-IN" dirty="0"/>
              <a:t>.</a:t>
            </a:r>
          </a:p>
          <a:p>
            <a:r>
              <a:rPr lang="en-IN" dirty="0"/>
              <a:t>•Highlight the </a:t>
            </a:r>
            <a:r>
              <a:rPr lang="hi-IN" b="1" dirty="0"/>
              <a:t>ू</a:t>
            </a:r>
            <a:r>
              <a:rPr lang="hi-IN" dirty="0"/>
              <a:t> </a:t>
            </a:r>
            <a:r>
              <a:rPr lang="en-IN" dirty="0" err="1"/>
              <a:t>matra</a:t>
            </a:r>
            <a:r>
              <a:rPr lang="en-IN" dirty="0"/>
              <a:t> in </a:t>
            </a:r>
            <a:r>
              <a:rPr lang="hi-IN" b="1" dirty="0"/>
              <a:t>कबूतर</a:t>
            </a:r>
            <a:r>
              <a:rPr lang="hi-IN" dirty="0"/>
              <a:t> </a:t>
            </a:r>
            <a:r>
              <a:rPr lang="en-IN" dirty="0"/>
              <a:t>as well.</a:t>
            </a:r>
          </a:p>
          <a:p>
            <a:r>
              <a:rPr lang="en-IN" b="1" dirty="0"/>
              <a:t>Sequence: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hi-IN" b="1" dirty="0"/>
              <a:t>दूध</a:t>
            </a:r>
            <a:r>
              <a:rPr lang="hi-IN" dirty="0"/>
              <a:t> </a:t>
            </a:r>
            <a:r>
              <a:rPr lang="en-IN" dirty="0"/>
              <a:t>word appears </a:t>
            </a:r>
          </a:p>
          <a:p>
            <a:pPr>
              <a:buFont typeface="+mj-lt"/>
              <a:buAutoNum type="arabicPeriod"/>
            </a:pPr>
            <a:r>
              <a:rPr lang="en-IN" dirty="0"/>
              <a:t>Milk image appears </a:t>
            </a:r>
          </a:p>
          <a:p>
            <a:pPr>
              <a:buFont typeface="+mj-lt"/>
              <a:buAutoNum type="arabicPeriod"/>
            </a:pPr>
            <a:r>
              <a:rPr lang="en-IN" dirty="0"/>
              <a:t>The </a:t>
            </a:r>
            <a:r>
              <a:rPr lang="hi-IN" b="1" dirty="0"/>
              <a:t>ू</a:t>
            </a:r>
            <a:r>
              <a:rPr lang="hi-IN" dirty="0"/>
              <a:t> </a:t>
            </a:r>
            <a:r>
              <a:rPr lang="en-IN" dirty="0" err="1"/>
              <a:t>matra</a:t>
            </a:r>
            <a:r>
              <a:rPr lang="en-IN" dirty="0"/>
              <a:t> in </a:t>
            </a:r>
            <a:r>
              <a:rPr lang="hi-IN" b="1" dirty="0"/>
              <a:t>दूध</a:t>
            </a:r>
            <a:r>
              <a:rPr lang="hi-IN" dirty="0"/>
              <a:t> </a:t>
            </a:r>
            <a:r>
              <a:rPr lang="en-IN" dirty="0"/>
              <a:t>gets highlighted </a:t>
            </a:r>
          </a:p>
          <a:p>
            <a:pPr>
              <a:buFont typeface="+mj-lt"/>
              <a:buAutoNum type="arabicPeriod"/>
            </a:pPr>
            <a:r>
              <a:rPr lang="en-IN" dirty="0"/>
              <a:t>Then move to </a:t>
            </a:r>
            <a:r>
              <a:rPr lang="hi-IN" b="1" dirty="0"/>
              <a:t>कबूतर</a:t>
            </a:r>
            <a:r>
              <a:rPr lang="hi-IN" dirty="0"/>
              <a:t> </a:t>
            </a:r>
          </a:p>
          <a:p>
            <a:pPr>
              <a:buFont typeface="+mj-lt"/>
              <a:buAutoNum type="arabicPeriod"/>
            </a:pPr>
            <a:r>
              <a:rPr lang="hi-IN" b="1" dirty="0"/>
              <a:t>कबूतर</a:t>
            </a:r>
            <a:r>
              <a:rPr lang="hi-IN" dirty="0"/>
              <a:t> </a:t>
            </a:r>
            <a:r>
              <a:rPr lang="en-IN" dirty="0"/>
              <a:t>word appears </a:t>
            </a:r>
          </a:p>
          <a:p>
            <a:pPr>
              <a:buFont typeface="+mj-lt"/>
              <a:buAutoNum type="arabicPeriod"/>
            </a:pPr>
            <a:r>
              <a:rPr lang="en-IN" dirty="0"/>
              <a:t>Pigeon image appears </a:t>
            </a:r>
          </a:p>
          <a:p>
            <a:pPr>
              <a:buFont typeface="+mj-lt"/>
              <a:buAutoNum type="arabicPeriod"/>
            </a:pPr>
            <a:r>
              <a:rPr lang="en-IN" dirty="0"/>
              <a:t>The </a:t>
            </a:r>
            <a:r>
              <a:rPr lang="hi-IN" b="1" dirty="0"/>
              <a:t>ू</a:t>
            </a:r>
            <a:r>
              <a:rPr lang="hi-IN" dirty="0"/>
              <a:t> </a:t>
            </a:r>
            <a:r>
              <a:rPr lang="en-IN" dirty="0" err="1"/>
              <a:t>matra</a:t>
            </a:r>
            <a:r>
              <a:rPr lang="en-IN" dirty="0"/>
              <a:t> in </a:t>
            </a:r>
            <a:r>
              <a:rPr lang="hi-IN" b="1" dirty="0"/>
              <a:t>कबूतर</a:t>
            </a:r>
            <a:r>
              <a:rPr lang="hi-IN" dirty="0"/>
              <a:t> </a:t>
            </a:r>
            <a:r>
              <a:rPr lang="en-IN" dirty="0"/>
              <a:t>gets highlighted </a:t>
            </a:r>
          </a:p>
          <a:p>
            <a:r>
              <a:rPr lang="en-IN" b="1" dirty="0"/>
              <a:t>Animation:</a:t>
            </a:r>
            <a:endParaRPr lang="en-IN" dirty="0"/>
          </a:p>
          <a:p>
            <a:r>
              <a:rPr lang="en-IN" dirty="0"/>
              <a:t>•Word should appear first, then image should appear.</a:t>
            </a:r>
          </a:p>
          <a:p>
            <a:r>
              <a:rPr lang="en-IN" dirty="0"/>
              <a:t>•Use simple </a:t>
            </a:r>
            <a:r>
              <a:rPr lang="en-IN" b="1" dirty="0"/>
              <a:t>fade / pop-in animation</a:t>
            </a:r>
            <a:r>
              <a:rPr lang="en-IN" dirty="0"/>
              <a:t>.</a:t>
            </a:r>
          </a:p>
          <a:p>
            <a:r>
              <a:rPr lang="en-IN" dirty="0"/>
              <a:t>•When VO says the </a:t>
            </a:r>
            <a:r>
              <a:rPr lang="en-IN" dirty="0" err="1"/>
              <a:t>matra</a:t>
            </a:r>
            <a:r>
              <a:rPr lang="en-IN" dirty="0"/>
              <a:t> part, the </a:t>
            </a:r>
            <a:r>
              <a:rPr lang="hi-IN" b="1" dirty="0"/>
              <a:t>ू</a:t>
            </a:r>
            <a:r>
              <a:rPr lang="hi-IN" dirty="0"/>
              <a:t> </a:t>
            </a:r>
            <a:r>
              <a:rPr lang="en-IN" dirty="0"/>
              <a:t>should glow/highlight.</a:t>
            </a:r>
          </a:p>
          <a:p>
            <a:r>
              <a:rPr lang="en-IN" dirty="0"/>
              <a:t>•Keep animation one by one, not all together.</a:t>
            </a:r>
          </a:p>
          <a:p>
            <a:r>
              <a:rPr lang="en-IN" b="1" dirty="0"/>
              <a:t>SFX:</a:t>
            </a:r>
            <a:endParaRPr lang="en-IN" dirty="0"/>
          </a:p>
          <a:p>
            <a:r>
              <a:rPr lang="en-IN" dirty="0"/>
              <a:t>•Soft pop sound when word/image appears</a:t>
            </a:r>
          </a:p>
          <a:p>
            <a:r>
              <a:rPr lang="en-IN" dirty="0"/>
              <a:t>•Soft highlight chime when </a:t>
            </a:r>
            <a:r>
              <a:rPr lang="en-IN" dirty="0" err="1"/>
              <a:t>matra</a:t>
            </a:r>
            <a:r>
              <a:rPr lang="en-IN" dirty="0"/>
              <a:t> glows</a:t>
            </a:r>
          </a:p>
          <a:p>
            <a:r>
              <a:rPr lang="en-IN" dirty="0"/>
              <a:t>•Keep SFX subtle</a:t>
            </a:r>
          </a:p>
          <a:p>
            <a:r>
              <a:rPr lang="en-IN" b="1" dirty="0"/>
              <a:t>Next Button:</a:t>
            </a:r>
            <a:endParaRPr lang="en-IN" dirty="0"/>
          </a:p>
          <a:p>
            <a:r>
              <a:rPr lang="en-IN" dirty="0"/>
              <a:t>•Keep </a:t>
            </a:r>
            <a:r>
              <a:rPr lang="en-IN" b="1" dirty="0"/>
              <a:t>Next</a:t>
            </a:r>
            <a:r>
              <a:rPr lang="en-IN" dirty="0"/>
              <a:t> button disabled during the explanation.</a:t>
            </a:r>
          </a:p>
          <a:p>
            <a:r>
              <a:rPr lang="en-IN" dirty="0"/>
              <a:t>•Activate it only after both examples are shown completely.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38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Recommendation</a:t>
            </a:r>
            <a:endParaRPr lang="en-IN" dirty="0"/>
          </a:p>
          <a:p>
            <a:r>
              <a:rPr lang="en-IN" b="1" dirty="0"/>
              <a:t>Heading / Question Text: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छोटी उ की मात्रा वाले शब्द पर टैप कीजिए।”</a:t>
            </a:r>
            <a:endParaRPr lang="hi-IN" dirty="0"/>
          </a:p>
          <a:p>
            <a:r>
              <a:rPr lang="en-IN" b="1" dirty="0"/>
              <a:t>Entry Animation</a:t>
            </a:r>
            <a:endParaRPr lang="en-IN" dirty="0"/>
          </a:p>
          <a:p>
            <a:r>
              <a:rPr lang="en-IN" dirty="0"/>
              <a:t>•Train comes through animation </a:t>
            </a:r>
            <a:r>
              <a:rPr lang="en-IN" b="1" dirty="0"/>
              <a:t>from right to left</a:t>
            </a:r>
            <a:r>
              <a:rPr lang="en-IN" dirty="0"/>
              <a:t>.</a:t>
            </a:r>
          </a:p>
          <a:p>
            <a:r>
              <a:rPr lang="en-IN" dirty="0"/>
              <a:t>•Train stops at the centre of the screen.</a:t>
            </a:r>
          </a:p>
          <a:p>
            <a:r>
              <a:rPr lang="en-IN" dirty="0"/>
              <a:t>•After the train stops, the three coaches </a:t>
            </a:r>
            <a:r>
              <a:rPr lang="hi-IN" b="1" dirty="0"/>
              <a:t>पुल, दूध, सूरज</a:t>
            </a:r>
            <a:r>
              <a:rPr lang="hi-IN" dirty="0"/>
              <a:t> </a:t>
            </a:r>
            <a:r>
              <a:rPr lang="en-IN" dirty="0"/>
              <a:t>appear clearly.</a:t>
            </a:r>
          </a:p>
          <a:p>
            <a:r>
              <a:rPr lang="en-IN" b="1" dirty="0"/>
              <a:t>On Screen</a:t>
            </a:r>
            <a:endParaRPr lang="en-IN" dirty="0"/>
          </a:p>
          <a:p>
            <a:r>
              <a:rPr lang="en-IN" dirty="0"/>
              <a:t>•Keep the heading at the top:</a:t>
            </a:r>
          </a:p>
          <a:p>
            <a:r>
              <a:rPr lang="en-IN" b="1" dirty="0"/>
              <a:t>“</a:t>
            </a:r>
            <a:r>
              <a:rPr lang="hi-IN" b="1" dirty="0"/>
              <a:t>छोटी उ की मात्रा वाले शब्द पर टैप कीजिए।”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Do not add any additional instruction text in the play area.</a:t>
            </a:r>
          </a:p>
          <a:p>
            <a:r>
              <a:rPr lang="en-IN" dirty="0"/>
              <a:t>•Keep the three words clearly visible inside the train coaches:</a:t>
            </a:r>
          </a:p>
          <a:p>
            <a:r>
              <a:rPr lang="en-IN" dirty="0"/>
              <a:t>•</a:t>
            </a:r>
            <a:r>
              <a:rPr lang="hi-IN" b="1" dirty="0"/>
              <a:t>पुल</a:t>
            </a:r>
            <a:endParaRPr lang="hi-IN" dirty="0"/>
          </a:p>
          <a:p>
            <a:r>
              <a:rPr lang="hi-IN" dirty="0"/>
              <a:t>•</a:t>
            </a:r>
            <a:r>
              <a:rPr lang="hi-IN" b="1" dirty="0"/>
              <a:t>दूध</a:t>
            </a:r>
            <a:endParaRPr lang="hi-IN" dirty="0"/>
          </a:p>
          <a:p>
            <a:r>
              <a:rPr lang="hi-IN" dirty="0"/>
              <a:t>•</a:t>
            </a:r>
            <a:r>
              <a:rPr lang="hi-IN" b="1" dirty="0"/>
              <a:t>सूरज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Do not highlight the </a:t>
            </a:r>
            <a:r>
              <a:rPr lang="en-IN" dirty="0" err="1"/>
              <a:t>matra</a:t>
            </a:r>
            <a:r>
              <a:rPr lang="en-IN" dirty="0"/>
              <a:t> before the child answers, as this would reveal the correct option.</a:t>
            </a:r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जिस डिब्बे में छोटी उ की मात्रा वाला शब्द है, उस डिब्बे पर टैप कीजिए।”</a:t>
            </a:r>
            <a:endParaRPr lang="hi-IN" dirty="0"/>
          </a:p>
          <a:p>
            <a:r>
              <a:rPr lang="en-IN" b="1" dirty="0"/>
              <a:t>Correct Answer: </a:t>
            </a:r>
            <a:r>
              <a:rPr lang="hi-IN" b="1" dirty="0"/>
              <a:t>पुल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Show </a:t>
            </a:r>
            <a:r>
              <a:rPr lang="en-IN" b="1" dirty="0"/>
              <a:t>confetti / sparkle effect</a:t>
            </a:r>
            <a:r>
              <a:rPr lang="en-IN" dirty="0"/>
              <a:t>.</a:t>
            </a:r>
          </a:p>
          <a:p>
            <a:r>
              <a:rPr lang="en-IN" dirty="0"/>
              <a:t>•The </a:t>
            </a:r>
            <a:r>
              <a:rPr lang="hi-IN" b="1" dirty="0"/>
              <a:t>पुल</a:t>
            </a:r>
            <a:r>
              <a:rPr lang="hi-IN" dirty="0"/>
              <a:t> </a:t>
            </a:r>
            <a:r>
              <a:rPr lang="en-IN" dirty="0"/>
              <a:t>coach should </a:t>
            </a:r>
            <a:r>
              <a:rPr lang="en-IN" b="1" dirty="0"/>
              <a:t>glow / highlight</a:t>
            </a:r>
            <a:r>
              <a:rPr lang="en-IN" dirty="0"/>
              <a:t>.</a:t>
            </a:r>
          </a:p>
          <a:p>
            <a:r>
              <a:rPr lang="en-IN" dirty="0"/>
              <a:t>•Highlight the </a:t>
            </a:r>
            <a:r>
              <a:rPr lang="hi-IN" b="1" dirty="0"/>
              <a:t>ु</a:t>
            </a:r>
            <a:r>
              <a:rPr lang="hi-IN" dirty="0"/>
              <a:t> मात्रा </a:t>
            </a:r>
            <a:r>
              <a:rPr lang="en-IN" dirty="0"/>
              <a:t>inside </a:t>
            </a:r>
            <a:r>
              <a:rPr lang="hi-IN" b="1" dirty="0"/>
              <a:t>पुल</a:t>
            </a:r>
            <a:r>
              <a:rPr lang="hi-IN" dirty="0"/>
              <a:t> </a:t>
            </a:r>
            <a:r>
              <a:rPr lang="en-IN" dirty="0"/>
              <a:t>after the correct response.</a:t>
            </a:r>
          </a:p>
          <a:p>
            <a:r>
              <a:rPr lang="en-IN" dirty="0"/>
              <a:t>•VO:</a:t>
            </a:r>
          </a:p>
          <a:p>
            <a:r>
              <a:rPr lang="en-IN" b="1" dirty="0"/>
              <a:t>“</a:t>
            </a:r>
            <a:r>
              <a:rPr lang="hi-IN" b="1" dirty="0"/>
              <a:t>शाबाश! ‘पुल’ शब्द में छोटी उ की मात्रा है।”</a:t>
            </a:r>
            <a:endParaRPr lang="hi-IN" dirty="0"/>
          </a:p>
          <a:p>
            <a:r>
              <a:rPr lang="en-IN" b="1" dirty="0"/>
              <a:t>On 1st Wrong Attempt</a:t>
            </a:r>
            <a:endParaRPr lang="en-IN" dirty="0"/>
          </a:p>
          <a:p>
            <a:r>
              <a:rPr lang="en-IN" dirty="0"/>
              <a:t>•If the child taps </a:t>
            </a:r>
            <a:r>
              <a:rPr lang="hi-IN" b="1" dirty="0"/>
              <a:t>दूध</a:t>
            </a:r>
            <a:r>
              <a:rPr lang="hi-IN" dirty="0"/>
              <a:t> </a:t>
            </a:r>
            <a:r>
              <a:rPr lang="en-IN" dirty="0"/>
              <a:t>or </a:t>
            </a:r>
            <a:r>
              <a:rPr lang="hi-IN" b="1" dirty="0"/>
              <a:t>सूरज</a:t>
            </a:r>
            <a:r>
              <a:rPr lang="hi-IN" dirty="0"/>
              <a:t>, </a:t>
            </a:r>
            <a:r>
              <a:rPr lang="en-IN" dirty="0"/>
              <a:t>the selected coach should </a:t>
            </a:r>
            <a:r>
              <a:rPr lang="en-IN" b="1" dirty="0"/>
              <a:t>wiggle / shake</a:t>
            </a:r>
            <a:r>
              <a:rPr lang="en-IN" dirty="0"/>
              <a:t>.</a:t>
            </a:r>
          </a:p>
          <a:p>
            <a:r>
              <a:rPr lang="en-IN" dirty="0"/>
              <a:t>•No hand nudge.</a:t>
            </a:r>
          </a:p>
          <a:p>
            <a:r>
              <a:rPr lang="en-IN" dirty="0"/>
              <a:t>•Only hint </a:t>
            </a:r>
            <a:r>
              <a:rPr lang="en-IN" b="1" dirty="0"/>
              <a:t>VO</a:t>
            </a:r>
            <a:r>
              <a:rPr lang="en-IN" dirty="0"/>
              <a:t> should play.</a:t>
            </a:r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फिर से सोचिए। छोटी उ की मात्रा वाला शब्द कौन-सा है?”</a:t>
            </a:r>
            <a:endParaRPr lang="hi-IN" dirty="0"/>
          </a:p>
          <a:p>
            <a:r>
              <a:rPr lang="en-IN" b="1" dirty="0"/>
              <a:t>On 2nd Wrong Attempt</a:t>
            </a:r>
            <a:endParaRPr lang="en-IN" dirty="0"/>
          </a:p>
          <a:p>
            <a:r>
              <a:rPr lang="en-IN" dirty="0"/>
              <a:t>•The wrong coach should again </a:t>
            </a:r>
            <a:r>
              <a:rPr lang="en-IN" b="1" dirty="0"/>
              <a:t>wiggle / shake</a:t>
            </a:r>
            <a:r>
              <a:rPr lang="en-IN" dirty="0"/>
              <a:t>.</a:t>
            </a:r>
          </a:p>
          <a:p>
            <a:r>
              <a:rPr lang="en-IN" dirty="0"/>
              <a:t>•Hint </a:t>
            </a:r>
            <a:r>
              <a:rPr lang="en-IN" b="1" dirty="0"/>
              <a:t>VO</a:t>
            </a:r>
            <a:r>
              <a:rPr lang="en-IN" dirty="0"/>
              <a:t> should play.</a:t>
            </a:r>
          </a:p>
          <a:p>
            <a:r>
              <a:rPr lang="en-IN" dirty="0"/>
              <a:t>•Show </a:t>
            </a:r>
            <a:r>
              <a:rPr lang="en-IN" b="1" dirty="0"/>
              <a:t>hand nudge on the </a:t>
            </a:r>
            <a:r>
              <a:rPr lang="hi-IN" b="1" dirty="0"/>
              <a:t>पुल </a:t>
            </a:r>
            <a:r>
              <a:rPr lang="en-IN" b="1" dirty="0"/>
              <a:t>coach</a:t>
            </a:r>
            <a:r>
              <a:rPr lang="en-IN" dirty="0"/>
              <a:t>.</a:t>
            </a:r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ध्यान से देखिए और छोटी उ की मात्रा वाले शब्द पर टैप कीजिए।”</a:t>
            </a:r>
            <a:endParaRPr lang="hi-IN" dirty="0"/>
          </a:p>
          <a:p>
            <a:r>
              <a:rPr lang="en-IN" b="1" dirty="0"/>
              <a:t>Correct Answer on 3rd Attempt</a:t>
            </a:r>
            <a:endParaRPr lang="en-IN" dirty="0"/>
          </a:p>
          <a:p>
            <a:r>
              <a:rPr lang="en-IN" dirty="0"/>
              <a:t>•Accept </a:t>
            </a:r>
            <a:r>
              <a:rPr lang="hi-IN" b="1" dirty="0"/>
              <a:t>पुल</a:t>
            </a:r>
            <a:r>
              <a:rPr lang="hi-IN" dirty="0"/>
              <a:t> </a:t>
            </a:r>
            <a:r>
              <a:rPr lang="en-IN" dirty="0"/>
              <a:t>as the correct answer.</a:t>
            </a:r>
          </a:p>
          <a:p>
            <a:r>
              <a:rPr lang="en-IN" dirty="0"/>
              <a:t>•Show </a:t>
            </a:r>
            <a:r>
              <a:rPr lang="en-IN" b="1" dirty="0"/>
              <a:t>confetti / sparkle effect</a:t>
            </a:r>
            <a:r>
              <a:rPr lang="en-IN" dirty="0"/>
              <a:t>.</a:t>
            </a:r>
          </a:p>
          <a:p>
            <a:r>
              <a:rPr lang="en-IN" dirty="0"/>
              <a:t>•Correct coach highlights.</a:t>
            </a:r>
          </a:p>
          <a:p>
            <a:r>
              <a:rPr lang="en-IN" dirty="0"/>
              <a:t>•Highlight the </a:t>
            </a:r>
            <a:r>
              <a:rPr lang="hi-IN" b="1" dirty="0"/>
              <a:t>ु</a:t>
            </a:r>
            <a:r>
              <a:rPr lang="hi-IN" dirty="0"/>
              <a:t> मात्रा </a:t>
            </a:r>
            <a:r>
              <a:rPr lang="en-IN" dirty="0"/>
              <a:t>inside </a:t>
            </a:r>
            <a:r>
              <a:rPr lang="hi-IN" b="1" dirty="0"/>
              <a:t>पुल</a:t>
            </a:r>
            <a:r>
              <a:rPr lang="hi-IN" dirty="0"/>
              <a:t>.</a:t>
            </a:r>
          </a:p>
          <a:p>
            <a:r>
              <a:rPr lang="hi-IN" dirty="0"/>
              <a:t>•</a:t>
            </a:r>
            <a:r>
              <a:rPr lang="en-IN" b="1" dirty="0"/>
              <a:t>Next button becomes active</a:t>
            </a:r>
            <a:r>
              <a:rPr lang="en-IN" dirty="0"/>
              <a:t>.</a:t>
            </a:r>
          </a:p>
          <a:p>
            <a:r>
              <a:rPr lang="en-IN" dirty="0"/>
              <a:t>•</a:t>
            </a:r>
            <a:r>
              <a:rPr lang="en-IN" b="1" dirty="0"/>
              <a:t>No additional VO</a:t>
            </a:r>
            <a:r>
              <a:rPr lang="en-IN" dirty="0"/>
              <a:t>.</a:t>
            </a:r>
          </a:p>
          <a:p>
            <a:r>
              <a:rPr lang="en-IN" b="1" dirty="0"/>
              <a:t>SFX</a:t>
            </a:r>
            <a:endParaRPr lang="en-IN" dirty="0"/>
          </a:p>
          <a:p>
            <a:r>
              <a:rPr lang="en-IN" dirty="0"/>
              <a:t>•Soft </a:t>
            </a:r>
            <a:r>
              <a:rPr lang="en-IN" b="1" dirty="0"/>
              <a:t>train arrival / whistle sound</a:t>
            </a:r>
            <a:r>
              <a:rPr lang="en-IN" dirty="0"/>
              <a:t> when the train enters.</a:t>
            </a:r>
          </a:p>
          <a:p>
            <a:r>
              <a:rPr lang="en-IN" dirty="0"/>
              <a:t>•Light </a:t>
            </a:r>
            <a:r>
              <a:rPr lang="en-IN" b="1" dirty="0"/>
              <a:t>tap sound</a:t>
            </a:r>
            <a:r>
              <a:rPr lang="en-IN" dirty="0"/>
              <a:t> on selection.</a:t>
            </a:r>
          </a:p>
          <a:p>
            <a:r>
              <a:rPr lang="en-IN" dirty="0"/>
              <a:t>•Soft </a:t>
            </a:r>
            <a:r>
              <a:rPr lang="en-IN" b="1" dirty="0"/>
              <a:t>shake / error sound</a:t>
            </a:r>
            <a:r>
              <a:rPr lang="en-IN" dirty="0"/>
              <a:t> on a wrong attempt.</a:t>
            </a:r>
          </a:p>
          <a:p>
            <a:r>
              <a:rPr lang="en-IN" dirty="0"/>
              <a:t>•Light </a:t>
            </a:r>
            <a:r>
              <a:rPr lang="en-IN" b="1" dirty="0"/>
              <a:t>success chime</a:t>
            </a:r>
            <a:r>
              <a:rPr lang="en-IN" dirty="0"/>
              <a:t> on the correct answer.</a:t>
            </a:r>
          </a:p>
          <a:p>
            <a:r>
              <a:rPr lang="en-IN" b="1" dirty="0"/>
              <a:t>Next Button</a:t>
            </a:r>
            <a:endParaRPr lang="en-IN" dirty="0"/>
          </a:p>
          <a:p>
            <a:r>
              <a:rPr lang="en-IN" dirty="0"/>
              <a:t>•Keep the </a:t>
            </a:r>
            <a:r>
              <a:rPr lang="en-IN" b="1" dirty="0"/>
              <a:t>Next</a:t>
            </a:r>
            <a:r>
              <a:rPr lang="en-IN" dirty="0"/>
              <a:t> button disabled initially.</a:t>
            </a:r>
          </a:p>
          <a:p>
            <a:r>
              <a:rPr lang="en-IN" dirty="0"/>
              <a:t>•Activate it only after the correct answer is accepted.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944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Recommendation</a:t>
            </a:r>
            <a:endParaRPr lang="en-IN" dirty="0"/>
          </a:p>
          <a:p>
            <a:r>
              <a:rPr lang="en-IN" b="1" dirty="0"/>
              <a:t>Heading / Question Text: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बड़ी ऊ की मात्रा वाले शब्द पर टैप कीजिए।”</a:t>
            </a:r>
            <a:endParaRPr lang="hi-IN" dirty="0"/>
          </a:p>
          <a:p>
            <a:r>
              <a:rPr lang="en-IN" b="1" dirty="0"/>
              <a:t>Entry Animation</a:t>
            </a:r>
            <a:endParaRPr lang="en-IN" dirty="0"/>
          </a:p>
          <a:p>
            <a:r>
              <a:rPr lang="en-IN" dirty="0"/>
              <a:t>•Train comes through animation </a:t>
            </a:r>
            <a:r>
              <a:rPr lang="en-IN" b="1" dirty="0"/>
              <a:t>from right to left</a:t>
            </a:r>
            <a:r>
              <a:rPr lang="en-IN" dirty="0"/>
              <a:t>.</a:t>
            </a:r>
          </a:p>
          <a:p>
            <a:r>
              <a:rPr lang="en-IN" dirty="0"/>
              <a:t>•Train stops at the centre of the screen.</a:t>
            </a:r>
          </a:p>
          <a:p>
            <a:r>
              <a:rPr lang="en-IN" dirty="0"/>
              <a:t>•After the train stops, the three coaches </a:t>
            </a:r>
            <a:r>
              <a:rPr lang="hi-IN" b="1" dirty="0"/>
              <a:t>गुड़, मुकुट, फूल</a:t>
            </a:r>
            <a:r>
              <a:rPr lang="hi-IN" dirty="0"/>
              <a:t> </a:t>
            </a:r>
            <a:r>
              <a:rPr lang="en-IN" dirty="0"/>
              <a:t>appear clearly.</a:t>
            </a:r>
          </a:p>
          <a:p>
            <a:r>
              <a:rPr lang="en-IN" b="1" dirty="0"/>
              <a:t>On Screen</a:t>
            </a:r>
            <a:endParaRPr lang="en-IN" dirty="0"/>
          </a:p>
          <a:p>
            <a:r>
              <a:rPr lang="en-IN" dirty="0"/>
              <a:t>•Keep the heading at the top:</a:t>
            </a:r>
          </a:p>
          <a:p>
            <a:r>
              <a:rPr lang="en-IN" b="1" dirty="0"/>
              <a:t>“</a:t>
            </a:r>
            <a:r>
              <a:rPr lang="hi-IN" b="1" dirty="0"/>
              <a:t>बड़ी ऊ की मात्रा वाले शब्द पर टैप कीजिए।”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Do not add any additional instruction text in the play area.</a:t>
            </a:r>
          </a:p>
          <a:p>
            <a:r>
              <a:rPr lang="en-IN" dirty="0"/>
              <a:t>•Keep the three words clearly visible inside the train coaches:</a:t>
            </a:r>
          </a:p>
          <a:p>
            <a:r>
              <a:rPr lang="en-IN" dirty="0"/>
              <a:t>•</a:t>
            </a:r>
            <a:r>
              <a:rPr lang="hi-IN" b="1" dirty="0"/>
              <a:t>गुड़</a:t>
            </a:r>
            <a:endParaRPr lang="hi-IN" dirty="0"/>
          </a:p>
          <a:p>
            <a:r>
              <a:rPr lang="hi-IN" dirty="0"/>
              <a:t>•</a:t>
            </a:r>
            <a:r>
              <a:rPr lang="hi-IN" b="1" dirty="0"/>
              <a:t>मुकुट</a:t>
            </a:r>
            <a:endParaRPr lang="hi-IN" dirty="0"/>
          </a:p>
          <a:p>
            <a:r>
              <a:rPr lang="hi-IN" dirty="0"/>
              <a:t>•</a:t>
            </a:r>
            <a:r>
              <a:rPr lang="hi-IN" b="1" dirty="0"/>
              <a:t>फूल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Do not highlight the </a:t>
            </a:r>
            <a:r>
              <a:rPr lang="en-IN" dirty="0" err="1"/>
              <a:t>matra</a:t>
            </a:r>
            <a:r>
              <a:rPr lang="en-IN" dirty="0"/>
              <a:t> before the child answers, as this would reveal the correct option.</a:t>
            </a:r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जिस डिब्बे में बड़ी ऊ की मात्रा वाला शब्द है, उस डिब्बे पर टैप कीजिए।”</a:t>
            </a:r>
            <a:endParaRPr lang="hi-IN" dirty="0"/>
          </a:p>
          <a:p>
            <a:r>
              <a:rPr lang="en-IN" b="1" dirty="0"/>
              <a:t>Correct Answer: </a:t>
            </a:r>
            <a:r>
              <a:rPr lang="hi-IN" b="1" dirty="0"/>
              <a:t>फूल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Show </a:t>
            </a:r>
            <a:r>
              <a:rPr lang="en-IN" b="1" dirty="0"/>
              <a:t>confetti / sparkle effect</a:t>
            </a:r>
            <a:r>
              <a:rPr lang="en-IN" dirty="0"/>
              <a:t>.</a:t>
            </a:r>
          </a:p>
          <a:p>
            <a:r>
              <a:rPr lang="en-IN" dirty="0"/>
              <a:t>•The </a:t>
            </a:r>
            <a:r>
              <a:rPr lang="hi-IN" b="1" dirty="0"/>
              <a:t>फूल</a:t>
            </a:r>
            <a:r>
              <a:rPr lang="hi-IN" dirty="0"/>
              <a:t> </a:t>
            </a:r>
            <a:r>
              <a:rPr lang="en-IN" dirty="0"/>
              <a:t>coach should </a:t>
            </a:r>
            <a:r>
              <a:rPr lang="en-IN" b="1" dirty="0"/>
              <a:t>glow / highlight</a:t>
            </a:r>
            <a:r>
              <a:rPr lang="en-IN" dirty="0"/>
              <a:t>.</a:t>
            </a:r>
          </a:p>
          <a:p>
            <a:r>
              <a:rPr lang="en-IN" dirty="0"/>
              <a:t>•Highlight the </a:t>
            </a:r>
            <a:r>
              <a:rPr lang="hi-IN" b="1" dirty="0"/>
              <a:t>ू</a:t>
            </a:r>
            <a:r>
              <a:rPr lang="hi-IN" dirty="0"/>
              <a:t> मात्रा </a:t>
            </a:r>
            <a:r>
              <a:rPr lang="en-IN" dirty="0"/>
              <a:t>inside </a:t>
            </a:r>
            <a:r>
              <a:rPr lang="hi-IN" b="1" dirty="0"/>
              <a:t>फूल</a:t>
            </a:r>
            <a:r>
              <a:rPr lang="hi-IN" dirty="0"/>
              <a:t> </a:t>
            </a:r>
            <a:r>
              <a:rPr lang="en-IN" dirty="0"/>
              <a:t>after the correct response.</a:t>
            </a:r>
          </a:p>
          <a:p>
            <a:r>
              <a:rPr lang="en-IN" dirty="0"/>
              <a:t>•VO:</a:t>
            </a:r>
          </a:p>
          <a:p>
            <a:r>
              <a:rPr lang="en-IN" b="1" dirty="0"/>
              <a:t>“</a:t>
            </a:r>
            <a:r>
              <a:rPr lang="hi-IN" b="1" dirty="0"/>
              <a:t>शाबाश! ‘फूल’ शब्द में बड़ी ऊ की मात्रा है।”</a:t>
            </a:r>
            <a:endParaRPr lang="hi-IN" dirty="0"/>
          </a:p>
          <a:p>
            <a:r>
              <a:rPr lang="en-IN" b="1" dirty="0"/>
              <a:t>On 1st Wrong Attempt</a:t>
            </a:r>
            <a:endParaRPr lang="en-IN" dirty="0"/>
          </a:p>
          <a:p>
            <a:r>
              <a:rPr lang="en-IN" dirty="0"/>
              <a:t>•If the child taps </a:t>
            </a:r>
            <a:r>
              <a:rPr lang="hi-IN" b="1" dirty="0"/>
              <a:t>गुड़</a:t>
            </a:r>
            <a:r>
              <a:rPr lang="hi-IN" dirty="0"/>
              <a:t> </a:t>
            </a:r>
            <a:r>
              <a:rPr lang="en-IN" dirty="0"/>
              <a:t>or </a:t>
            </a:r>
            <a:r>
              <a:rPr lang="hi-IN" b="1" dirty="0"/>
              <a:t>मुकुट</a:t>
            </a:r>
            <a:r>
              <a:rPr lang="hi-IN" dirty="0"/>
              <a:t>, </a:t>
            </a:r>
            <a:r>
              <a:rPr lang="en-IN" dirty="0"/>
              <a:t>the selected coach should </a:t>
            </a:r>
            <a:r>
              <a:rPr lang="en-IN" b="1" dirty="0"/>
              <a:t>wiggle / shake</a:t>
            </a:r>
            <a:r>
              <a:rPr lang="en-IN" dirty="0"/>
              <a:t>.</a:t>
            </a:r>
          </a:p>
          <a:p>
            <a:r>
              <a:rPr lang="en-IN" dirty="0"/>
              <a:t>•No hand nudge.</a:t>
            </a:r>
          </a:p>
          <a:p>
            <a:r>
              <a:rPr lang="en-IN" dirty="0"/>
              <a:t>•Only hint </a:t>
            </a:r>
            <a:r>
              <a:rPr lang="en-IN" b="1" dirty="0"/>
              <a:t>VO</a:t>
            </a:r>
            <a:r>
              <a:rPr lang="en-IN" dirty="0"/>
              <a:t> should play.</a:t>
            </a:r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फिर से सोचिए। बड़ी ऊ की मात्रा वाला शब्द कौन-सा है?”</a:t>
            </a:r>
            <a:endParaRPr lang="hi-IN" dirty="0"/>
          </a:p>
          <a:p>
            <a:r>
              <a:rPr lang="en-IN" b="1" dirty="0"/>
              <a:t>On 2nd Wrong Attempt</a:t>
            </a:r>
            <a:endParaRPr lang="en-IN" dirty="0"/>
          </a:p>
          <a:p>
            <a:r>
              <a:rPr lang="en-IN" dirty="0"/>
              <a:t>•The wrong coach should again </a:t>
            </a:r>
            <a:r>
              <a:rPr lang="en-IN" b="1" dirty="0"/>
              <a:t>wiggle / shake</a:t>
            </a:r>
            <a:r>
              <a:rPr lang="en-IN" dirty="0"/>
              <a:t>.</a:t>
            </a:r>
          </a:p>
          <a:p>
            <a:r>
              <a:rPr lang="en-IN" dirty="0"/>
              <a:t>•Hint </a:t>
            </a:r>
            <a:r>
              <a:rPr lang="en-IN" b="1" dirty="0"/>
              <a:t>VO</a:t>
            </a:r>
            <a:r>
              <a:rPr lang="en-IN" dirty="0"/>
              <a:t> should play.</a:t>
            </a:r>
          </a:p>
          <a:p>
            <a:r>
              <a:rPr lang="en-IN" dirty="0"/>
              <a:t>•Show </a:t>
            </a:r>
            <a:r>
              <a:rPr lang="en-IN" b="1" dirty="0"/>
              <a:t>hand nudge on the </a:t>
            </a:r>
            <a:r>
              <a:rPr lang="hi-IN" b="1" dirty="0"/>
              <a:t>फूल </a:t>
            </a:r>
            <a:r>
              <a:rPr lang="en-IN" b="1" dirty="0"/>
              <a:t>coach</a:t>
            </a:r>
            <a:r>
              <a:rPr lang="en-IN" dirty="0"/>
              <a:t>.</a:t>
            </a:r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ध्यान से देखिए और बड़ी ऊ की मात्रा वाले शब्द पर टैप कीजिए।”</a:t>
            </a:r>
            <a:endParaRPr lang="hi-IN" dirty="0"/>
          </a:p>
          <a:p>
            <a:r>
              <a:rPr lang="en-IN" b="1" dirty="0"/>
              <a:t>Correct Answer on 3rd Attempt</a:t>
            </a:r>
            <a:endParaRPr lang="en-IN" dirty="0"/>
          </a:p>
          <a:p>
            <a:r>
              <a:rPr lang="en-IN" dirty="0"/>
              <a:t>•Accept </a:t>
            </a:r>
            <a:r>
              <a:rPr lang="hi-IN" b="1" dirty="0"/>
              <a:t>फूल</a:t>
            </a:r>
            <a:r>
              <a:rPr lang="hi-IN" dirty="0"/>
              <a:t> </a:t>
            </a:r>
            <a:r>
              <a:rPr lang="en-IN" dirty="0"/>
              <a:t>as the correct answer.</a:t>
            </a:r>
          </a:p>
          <a:p>
            <a:r>
              <a:rPr lang="en-IN" dirty="0"/>
              <a:t>•Show </a:t>
            </a:r>
            <a:r>
              <a:rPr lang="en-IN" b="1" dirty="0"/>
              <a:t>confetti / sparkle effect</a:t>
            </a:r>
            <a:r>
              <a:rPr lang="en-IN" dirty="0"/>
              <a:t>.</a:t>
            </a:r>
          </a:p>
          <a:p>
            <a:r>
              <a:rPr lang="en-IN" dirty="0"/>
              <a:t>•Correct coach highlights.</a:t>
            </a:r>
          </a:p>
          <a:p>
            <a:r>
              <a:rPr lang="en-IN" dirty="0"/>
              <a:t>•Highlight the </a:t>
            </a:r>
            <a:r>
              <a:rPr lang="hi-IN" b="1" dirty="0"/>
              <a:t>ू</a:t>
            </a:r>
            <a:r>
              <a:rPr lang="hi-IN" dirty="0"/>
              <a:t> मात्रा </a:t>
            </a:r>
            <a:r>
              <a:rPr lang="en-IN" dirty="0"/>
              <a:t>inside </a:t>
            </a:r>
            <a:r>
              <a:rPr lang="hi-IN" b="1" dirty="0"/>
              <a:t>फूल</a:t>
            </a:r>
            <a:r>
              <a:rPr lang="hi-IN" dirty="0"/>
              <a:t>.</a:t>
            </a:r>
          </a:p>
          <a:p>
            <a:r>
              <a:rPr lang="hi-IN" dirty="0"/>
              <a:t>•</a:t>
            </a:r>
            <a:r>
              <a:rPr lang="en-IN" b="1" dirty="0"/>
              <a:t>Next button becomes active</a:t>
            </a:r>
            <a:r>
              <a:rPr lang="en-IN" dirty="0"/>
              <a:t>.</a:t>
            </a:r>
          </a:p>
          <a:p>
            <a:r>
              <a:rPr lang="en-IN" dirty="0"/>
              <a:t>•</a:t>
            </a:r>
            <a:r>
              <a:rPr lang="en-IN" b="1" dirty="0"/>
              <a:t>No additional VO</a:t>
            </a:r>
            <a:r>
              <a:rPr lang="en-IN" dirty="0"/>
              <a:t>.</a:t>
            </a:r>
          </a:p>
          <a:p>
            <a:r>
              <a:rPr lang="en-IN" b="1" dirty="0"/>
              <a:t>SFX</a:t>
            </a:r>
            <a:endParaRPr lang="en-IN" dirty="0"/>
          </a:p>
          <a:p>
            <a:r>
              <a:rPr lang="en-IN" dirty="0"/>
              <a:t>•Soft </a:t>
            </a:r>
            <a:r>
              <a:rPr lang="en-IN" b="1" dirty="0"/>
              <a:t>train arrival / whistle sound</a:t>
            </a:r>
            <a:r>
              <a:rPr lang="en-IN" dirty="0"/>
              <a:t> when the train enters.</a:t>
            </a:r>
          </a:p>
          <a:p>
            <a:r>
              <a:rPr lang="en-IN" dirty="0"/>
              <a:t>•Light </a:t>
            </a:r>
            <a:r>
              <a:rPr lang="en-IN" b="1" dirty="0"/>
              <a:t>tap sound</a:t>
            </a:r>
            <a:r>
              <a:rPr lang="en-IN" dirty="0"/>
              <a:t> on selection.</a:t>
            </a:r>
          </a:p>
          <a:p>
            <a:r>
              <a:rPr lang="en-IN" dirty="0"/>
              <a:t>•Soft </a:t>
            </a:r>
            <a:r>
              <a:rPr lang="en-IN" b="1" dirty="0"/>
              <a:t>shake / error sound</a:t>
            </a:r>
            <a:r>
              <a:rPr lang="en-IN" dirty="0"/>
              <a:t> on a wrong attempt.</a:t>
            </a:r>
          </a:p>
          <a:p>
            <a:r>
              <a:rPr lang="en-IN" dirty="0"/>
              <a:t>•Light </a:t>
            </a:r>
            <a:r>
              <a:rPr lang="en-IN" b="1" dirty="0"/>
              <a:t>success chime</a:t>
            </a:r>
            <a:r>
              <a:rPr lang="en-IN" dirty="0"/>
              <a:t> on the correct answer.</a:t>
            </a:r>
          </a:p>
          <a:p>
            <a:r>
              <a:rPr lang="en-IN" b="1" dirty="0"/>
              <a:t>Next Button</a:t>
            </a:r>
            <a:endParaRPr lang="en-IN" dirty="0"/>
          </a:p>
          <a:p>
            <a:r>
              <a:rPr lang="en-IN" dirty="0"/>
              <a:t>•Keep the </a:t>
            </a:r>
            <a:r>
              <a:rPr lang="en-IN" b="1" dirty="0"/>
              <a:t>Next</a:t>
            </a:r>
            <a:r>
              <a:rPr lang="en-IN" dirty="0"/>
              <a:t> button disabled initially.</a:t>
            </a:r>
          </a:p>
          <a:p>
            <a:r>
              <a:rPr lang="en-IN" dirty="0"/>
              <a:t>•Activate it only after the correct answer is accepted.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071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Recommendation</a:t>
            </a:r>
            <a:endParaRPr lang="en-IN" dirty="0"/>
          </a:p>
          <a:p>
            <a:r>
              <a:rPr lang="en-IN" b="1" dirty="0"/>
              <a:t>Heading / Question Text: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छोटी उ की मात्रा वाले शब्द पर टैप कीजिए।”</a:t>
            </a:r>
            <a:endParaRPr lang="hi-IN" dirty="0"/>
          </a:p>
          <a:p>
            <a:r>
              <a:rPr lang="en-IN" b="1" dirty="0"/>
              <a:t>Entry Animation</a:t>
            </a:r>
            <a:endParaRPr lang="en-IN" dirty="0"/>
          </a:p>
          <a:p>
            <a:r>
              <a:rPr lang="en-IN" dirty="0"/>
              <a:t>•Train comes through animation </a:t>
            </a:r>
            <a:r>
              <a:rPr lang="en-IN" b="1" dirty="0"/>
              <a:t>from right to left</a:t>
            </a:r>
            <a:r>
              <a:rPr lang="en-IN" dirty="0"/>
              <a:t>.</a:t>
            </a:r>
          </a:p>
          <a:p>
            <a:r>
              <a:rPr lang="en-IN" dirty="0"/>
              <a:t>•Train stops at the centre of the screen.</a:t>
            </a:r>
          </a:p>
          <a:p>
            <a:r>
              <a:rPr lang="en-IN" dirty="0"/>
              <a:t>•After the train stops, the three coaches </a:t>
            </a:r>
            <a:r>
              <a:rPr lang="hi-IN" b="1" dirty="0"/>
              <a:t>तरबूज, सुई, कबूतर</a:t>
            </a:r>
            <a:r>
              <a:rPr lang="hi-IN" dirty="0"/>
              <a:t> </a:t>
            </a:r>
            <a:r>
              <a:rPr lang="en-IN" dirty="0"/>
              <a:t>appear clearly.</a:t>
            </a:r>
          </a:p>
          <a:p>
            <a:r>
              <a:rPr lang="en-IN" b="1" dirty="0"/>
              <a:t>On Screen</a:t>
            </a:r>
            <a:endParaRPr lang="en-IN" dirty="0"/>
          </a:p>
          <a:p>
            <a:r>
              <a:rPr lang="en-IN" dirty="0"/>
              <a:t>•Keep the heading at the top:</a:t>
            </a:r>
          </a:p>
          <a:p>
            <a:r>
              <a:rPr lang="en-IN" b="1" dirty="0"/>
              <a:t>“</a:t>
            </a:r>
            <a:r>
              <a:rPr lang="hi-IN" b="1" dirty="0"/>
              <a:t>छोटी उ की मात्रा वाले शब्द पर टैप कीजिए।”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Do not add any additional instruction text in the play area.</a:t>
            </a:r>
          </a:p>
          <a:p>
            <a:r>
              <a:rPr lang="en-IN" dirty="0"/>
              <a:t>•Keep the three words clearly visible inside the train coaches:</a:t>
            </a:r>
          </a:p>
          <a:p>
            <a:r>
              <a:rPr lang="en-IN" dirty="0"/>
              <a:t>•</a:t>
            </a:r>
            <a:r>
              <a:rPr lang="hi-IN" b="1" dirty="0"/>
              <a:t>तरबूज</a:t>
            </a:r>
            <a:endParaRPr lang="hi-IN" dirty="0"/>
          </a:p>
          <a:p>
            <a:r>
              <a:rPr lang="hi-IN" dirty="0"/>
              <a:t>•</a:t>
            </a:r>
            <a:r>
              <a:rPr lang="hi-IN" b="1" dirty="0"/>
              <a:t>सुई</a:t>
            </a:r>
            <a:endParaRPr lang="hi-IN" dirty="0"/>
          </a:p>
          <a:p>
            <a:r>
              <a:rPr lang="hi-IN" dirty="0"/>
              <a:t>•</a:t>
            </a:r>
            <a:r>
              <a:rPr lang="hi-IN" b="1" dirty="0"/>
              <a:t>कबूतर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Do not highlight any </a:t>
            </a:r>
            <a:r>
              <a:rPr lang="en-IN" dirty="0" err="1"/>
              <a:t>matra</a:t>
            </a:r>
            <a:r>
              <a:rPr lang="en-IN" dirty="0"/>
              <a:t> before the child answers, as this would reveal the correct option.</a:t>
            </a:r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जिस डिब्बे में छोटी उ की मात्रा वाला शब्द है, उस डिब्बे पर टैप कीजिए।”</a:t>
            </a:r>
            <a:endParaRPr lang="hi-IN" dirty="0"/>
          </a:p>
          <a:p>
            <a:r>
              <a:rPr lang="en-IN" b="1" dirty="0"/>
              <a:t>Correct Answer: </a:t>
            </a:r>
            <a:r>
              <a:rPr lang="hi-IN" b="1" dirty="0"/>
              <a:t>सुई</a:t>
            </a:r>
            <a:endParaRPr lang="hi-IN" dirty="0"/>
          </a:p>
          <a:p>
            <a:r>
              <a:rPr lang="hi-IN" dirty="0"/>
              <a:t>•</a:t>
            </a:r>
            <a:r>
              <a:rPr lang="en-IN" dirty="0"/>
              <a:t>Show </a:t>
            </a:r>
            <a:r>
              <a:rPr lang="en-IN" b="1" dirty="0"/>
              <a:t>confetti / sparkle effect</a:t>
            </a:r>
            <a:r>
              <a:rPr lang="en-IN" dirty="0"/>
              <a:t>.</a:t>
            </a:r>
          </a:p>
          <a:p>
            <a:r>
              <a:rPr lang="en-IN" dirty="0"/>
              <a:t>•The </a:t>
            </a:r>
            <a:r>
              <a:rPr lang="hi-IN" b="1" dirty="0"/>
              <a:t>सुई</a:t>
            </a:r>
            <a:r>
              <a:rPr lang="hi-IN" dirty="0"/>
              <a:t> </a:t>
            </a:r>
            <a:r>
              <a:rPr lang="en-IN" dirty="0"/>
              <a:t>coach should </a:t>
            </a:r>
            <a:r>
              <a:rPr lang="en-IN" b="1" dirty="0"/>
              <a:t>glow / highlight</a:t>
            </a:r>
            <a:r>
              <a:rPr lang="en-IN" dirty="0"/>
              <a:t>.</a:t>
            </a:r>
          </a:p>
          <a:p>
            <a:r>
              <a:rPr lang="en-IN" dirty="0"/>
              <a:t>•Highlight the </a:t>
            </a:r>
            <a:r>
              <a:rPr lang="hi-IN" b="1" dirty="0"/>
              <a:t>ु</a:t>
            </a:r>
            <a:r>
              <a:rPr lang="hi-IN" dirty="0"/>
              <a:t> मात्रा </a:t>
            </a:r>
            <a:r>
              <a:rPr lang="en-IN" dirty="0"/>
              <a:t>inside </a:t>
            </a:r>
            <a:r>
              <a:rPr lang="hi-IN" b="1" dirty="0"/>
              <a:t>सुई</a:t>
            </a:r>
            <a:r>
              <a:rPr lang="hi-IN" dirty="0"/>
              <a:t> </a:t>
            </a:r>
            <a:r>
              <a:rPr lang="en-IN" dirty="0"/>
              <a:t>after the correct response.</a:t>
            </a:r>
          </a:p>
          <a:p>
            <a:r>
              <a:rPr lang="en-IN" dirty="0"/>
              <a:t>•VO:</a:t>
            </a:r>
          </a:p>
          <a:p>
            <a:r>
              <a:rPr lang="en-IN" b="1" dirty="0"/>
              <a:t>“</a:t>
            </a:r>
            <a:r>
              <a:rPr lang="hi-IN" b="1" dirty="0"/>
              <a:t>शाबाश! ‘सुई’ शब्द में छोटी उ की मात्रा है।”</a:t>
            </a:r>
            <a:endParaRPr lang="hi-IN" dirty="0"/>
          </a:p>
          <a:p>
            <a:r>
              <a:rPr lang="en-IN" b="1" dirty="0"/>
              <a:t>On 1st Wrong Attempt</a:t>
            </a:r>
            <a:endParaRPr lang="en-IN" dirty="0"/>
          </a:p>
          <a:p>
            <a:r>
              <a:rPr lang="en-IN" dirty="0"/>
              <a:t>•If the child taps </a:t>
            </a:r>
            <a:r>
              <a:rPr lang="hi-IN" b="1" dirty="0"/>
              <a:t>तरबूज</a:t>
            </a:r>
            <a:r>
              <a:rPr lang="hi-IN" dirty="0"/>
              <a:t> </a:t>
            </a:r>
            <a:r>
              <a:rPr lang="en-IN" dirty="0"/>
              <a:t>or </a:t>
            </a:r>
            <a:r>
              <a:rPr lang="hi-IN" b="1" dirty="0"/>
              <a:t>कबूतर</a:t>
            </a:r>
            <a:r>
              <a:rPr lang="hi-IN" dirty="0"/>
              <a:t>, </a:t>
            </a:r>
            <a:r>
              <a:rPr lang="en-IN" dirty="0"/>
              <a:t>the selected coach should </a:t>
            </a:r>
            <a:r>
              <a:rPr lang="en-IN" b="1" dirty="0"/>
              <a:t>wiggle / shake</a:t>
            </a:r>
            <a:r>
              <a:rPr lang="en-IN" dirty="0"/>
              <a:t>.</a:t>
            </a:r>
          </a:p>
          <a:p>
            <a:r>
              <a:rPr lang="en-IN" dirty="0"/>
              <a:t>•No hand nudge.</a:t>
            </a:r>
          </a:p>
          <a:p>
            <a:r>
              <a:rPr lang="en-IN" dirty="0"/>
              <a:t>•Only hint </a:t>
            </a:r>
            <a:r>
              <a:rPr lang="en-IN" b="1" dirty="0"/>
              <a:t>VO</a:t>
            </a:r>
            <a:r>
              <a:rPr lang="en-IN" dirty="0"/>
              <a:t> should play.</a:t>
            </a:r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फिर से सोचिए। छोटी उ की मात्रा वाला शब्द कौन-सा है?”</a:t>
            </a:r>
            <a:endParaRPr lang="hi-IN" dirty="0"/>
          </a:p>
          <a:p>
            <a:r>
              <a:rPr lang="en-IN" b="1" dirty="0"/>
              <a:t>On 2nd Wrong Attempt</a:t>
            </a:r>
            <a:endParaRPr lang="en-IN" dirty="0"/>
          </a:p>
          <a:p>
            <a:r>
              <a:rPr lang="en-IN" dirty="0"/>
              <a:t>•The wrong coach should again </a:t>
            </a:r>
            <a:r>
              <a:rPr lang="en-IN" b="1" dirty="0"/>
              <a:t>wiggle / shake</a:t>
            </a:r>
            <a:r>
              <a:rPr lang="en-IN" dirty="0"/>
              <a:t>.</a:t>
            </a:r>
          </a:p>
          <a:p>
            <a:r>
              <a:rPr lang="en-IN" dirty="0"/>
              <a:t>•Hint </a:t>
            </a:r>
            <a:r>
              <a:rPr lang="en-IN" b="1" dirty="0"/>
              <a:t>VO</a:t>
            </a:r>
            <a:r>
              <a:rPr lang="en-IN" dirty="0"/>
              <a:t> should play.</a:t>
            </a:r>
          </a:p>
          <a:p>
            <a:r>
              <a:rPr lang="en-IN" dirty="0"/>
              <a:t>•Show </a:t>
            </a:r>
            <a:r>
              <a:rPr lang="en-IN" b="1" dirty="0"/>
              <a:t>hand nudge on the </a:t>
            </a:r>
            <a:r>
              <a:rPr lang="hi-IN" b="1" dirty="0"/>
              <a:t>सुई </a:t>
            </a:r>
            <a:r>
              <a:rPr lang="en-IN" b="1" dirty="0"/>
              <a:t>coach</a:t>
            </a:r>
            <a:r>
              <a:rPr lang="en-IN" dirty="0"/>
              <a:t>.</a:t>
            </a:r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ध्यान से देखिए और छोटी उ की मात्रा वाले शब्द पर टैप कीजिए।”</a:t>
            </a:r>
            <a:endParaRPr lang="hi-IN" dirty="0"/>
          </a:p>
          <a:p>
            <a:r>
              <a:rPr lang="en-IN" b="1" dirty="0"/>
              <a:t>Correct Answer on 3rd Attempt</a:t>
            </a:r>
            <a:endParaRPr lang="en-IN" dirty="0"/>
          </a:p>
          <a:p>
            <a:r>
              <a:rPr lang="en-IN" dirty="0"/>
              <a:t>•Accept </a:t>
            </a:r>
            <a:r>
              <a:rPr lang="hi-IN" b="1" dirty="0"/>
              <a:t>सुई</a:t>
            </a:r>
            <a:r>
              <a:rPr lang="hi-IN" dirty="0"/>
              <a:t> </a:t>
            </a:r>
            <a:r>
              <a:rPr lang="en-IN" dirty="0"/>
              <a:t>as the correct answer.</a:t>
            </a:r>
          </a:p>
          <a:p>
            <a:r>
              <a:rPr lang="en-IN" dirty="0"/>
              <a:t>•Show </a:t>
            </a:r>
            <a:r>
              <a:rPr lang="en-IN" b="1" dirty="0"/>
              <a:t>confetti / sparkle effect</a:t>
            </a:r>
            <a:r>
              <a:rPr lang="en-IN" dirty="0"/>
              <a:t>.</a:t>
            </a:r>
          </a:p>
          <a:p>
            <a:r>
              <a:rPr lang="en-IN" dirty="0"/>
              <a:t>•Correct coach highlights.</a:t>
            </a:r>
          </a:p>
          <a:p>
            <a:r>
              <a:rPr lang="en-IN" dirty="0"/>
              <a:t>•Highlight the </a:t>
            </a:r>
            <a:r>
              <a:rPr lang="hi-IN" b="1" dirty="0"/>
              <a:t>ु</a:t>
            </a:r>
            <a:r>
              <a:rPr lang="hi-IN" dirty="0"/>
              <a:t> मात्रा </a:t>
            </a:r>
            <a:r>
              <a:rPr lang="en-IN" dirty="0"/>
              <a:t>inside </a:t>
            </a:r>
            <a:r>
              <a:rPr lang="hi-IN" b="1" dirty="0"/>
              <a:t>सुई</a:t>
            </a:r>
            <a:r>
              <a:rPr lang="hi-IN" dirty="0"/>
              <a:t>.</a:t>
            </a:r>
          </a:p>
          <a:p>
            <a:r>
              <a:rPr lang="hi-IN" dirty="0"/>
              <a:t>•</a:t>
            </a:r>
            <a:r>
              <a:rPr lang="en-IN" b="1" dirty="0"/>
              <a:t>Next button becomes active</a:t>
            </a:r>
            <a:r>
              <a:rPr lang="en-IN" dirty="0"/>
              <a:t>.</a:t>
            </a:r>
          </a:p>
          <a:p>
            <a:r>
              <a:rPr lang="en-IN" dirty="0"/>
              <a:t>•</a:t>
            </a:r>
            <a:r>
              <a:rPr lang="en-IN" b="1" dirty="0"/>
              <a:t>No additional VO</a:t>
            </a:r>
            <a:r>
              <a:rPr lang="en-IN" dirty="0"/>
              <a:t>.</a:t>
            </a:r>
          </a:p>
          <a:p>
            <a:r>
              <a:rPr lang="en-IN" b="1" dirty="0"/>
              <a:t>SFX</a:t>
            </a:r>
            <a:endParaRPr lang="en-IN" dirty="0"/>
          </a:p>
          <a:p>
            <a:r>
              <a:rPr lang="en-IN" dirty="0"/>
              <a:t>•Soft </a:t>
            </a:r>
            <a:r>
              <a:rPr lang="en-IN" b="1" dirty="0"/>
              <a:t>train arrival / whistle sound</a:t>
            </a:r>
            <a:r>
              <a:rPr lang="en-IN" dirty="0"/>
              <a:t> when the train enters.</a:t>
            </a:r>
          </a:p>
          <a:p>
            <a:r>
              <a:rPr lang="en-IN" dirty="0"/>
              <a:t>•Light </a:t>
            </a:r>
            <a:r>
              <a:rPr lang="en-IN" b="1" dirty="0"/>
              <a:t>tap sound</a:t>
            </a:r>
            <a:r>
              <a:rPr lang="en-IN" dirty="0"/>
              <a:t> on selection.</a:t>
            </a:r>
          </a:p>
          <a:p>
            <a:r>
              <a:rPr lang="en-IN" dirty="0"/>
              <a:t>•Soft </a:t>
            </a:r>
            <a:r>
              <a:rPr lang="en-IN" b="1" dirty="0"/>
              <a:t>shake / error sound</a:t>
            </a:r>
            <a:r>
              <a:rPr lang="en-IN" dirty="0"/>
              <a:t> on a wrong attempt.</a:t>
            </a:r>
          </a:p>
          <a:p>
            <a:r>
              <a:rPr lang="en-IN" dirty="0"/>
              <a:t>•Light </a:t>
            </a:r>
            <a:r>
              <a:rPr lang="en-IN" b="1" dirty="0"/>
              <a:t>success chime</a:t>
            </a:r>
            <a:r>
              <a:rPr lang="en-IN" dirty="0"/>
              <a:t> on the correct answer.</a:t>
            </a:r>
          </a:p>
          <a:p>
            <a:r>
              <a:rPr lang="en-IN" b="1" dirty="0"/>
              <a:t>Next Button</a:t>
            </a:r>
            <a:endParaRPr lang="en-IN" dirty="0"/>
          </a:p>
          <a:p>
            <a:r>
              <a:rPr lang="en-IN" dirty="0"/>
              <a:t>•Keep the </a:t>
            </a:r>
            <a:r>
              <a:rPr lang="en-IN" b="1" dirty="0"/>
              <a:t>Next</a:t>
            </a:r>
            <a:r>
              <a:rPr lang="en-IN" dirty="0"/>
              <a:t> button disabled initially.</a:t>
            </a:r>
          </a:p>
          <a:p>
            <a:r>
              <a:rPr lang="en-IN" dirty="0"/>
              <a:t>•Activate it only after the correct answer is accepted.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038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Entry Animation</a:t>
            </a:r>
            <a:endParaRPr lang="en-GB" dirty="0"/>
          </a:p>
          <a:p>
            <a:r>
              <a:rPr lang="en-GB" dirty="0"/>
              <a:t>•Train comes through animation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r>
              <a:rPr lang="en-GB" dirty="0"/>
              <a:t>•The train stops at the centre of the screen.</a:t>
            </a:r>
          </a:p>
          <a:p>
            <a:r>
              <a:rPr lang="en-GB" dirty="0"/>
              <a:t>•Two coaches are visible.</a:t>
            </a:r>
          </a:p>
          <a:p>
            <a:r>
              <a:rPr lang="en-GB" dirty="0"/>
              <a:t>•Each coach has one </a:t>
            </a:r>
            <a:r>
              <a:rPr lang="en-GB" dirty="0" err="1"/>
              <a:t>मात्रा</a:t>
            </a:r>
            <a:r>
              <a:rPr lang="en-GB" dirty="0"/>
              <a:t> label shown above it:</a:t>
            </a:r>
          </a:p>
          <a:p>
            <a:r>
              <a:rPr lang="en-GB" dirty="0"/>
              <a:t>•</a:t>
            </a:r>
            <a:r>
              <a:rPr lang="en-GB" b="1" dirty="0"/>
              <a:t>उ (ु)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/>
              <a:t>ऊ (ू)</a:t>
            </a:r>
            <a:endParaRPr lang="en-GB" dirty="0"/>
          </a:p>
          <a:p>
            <a:r>
              <a:rPr lang="en-GB" dirty="0"/>
              <a:t>•The inside drop area of both coaches remains empty.</a:t>
            </a:r>
          </a:p>
          <a:p>
            <a:r>
              <a:rPr lang="en-GB" dirty="0"/>
              <a:t>•Four draggable word cards appear below the train:</a:t>
            </a:r>
          </a:p>
          <a:p>
            <a:r>
              <a:rPr lang="en-GB" dirty="0"/>
              <a:t>•</a:t>
            </a:r>
            <a:r>
              <a:rPr lang="en-GB" b="1" dirty="0" err="1"/>
              <a:t>आलू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 err="1"/>
              <a:t>सूरज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 err="1"/>
              <a:t>सुई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 err="1"/>
              <a:t>गुड़</a:t>
            </a:r>
            <a:endParaRPr lang="en-GB" dirty="0"/>
          </a:p>
          <a:p>
            <a:r>
              <a:rPr lang="en-GB" b="1" dirty="0"/>
              <a:t>On Screen</a:t>
            </a:r>
            <a:endParaRPr lang="en-GB" dirty="0"/>
          </a:p>
          <a:p>
            <a:r>
              <a:rPr lang="en-GB" dirty="0"/>
              <a:t>•Keep the heading at the top:</a:t>
            </a:r>
          </a:p>
          <a:p>
            <a:r>
              <a:rPr lang="en-GB" b="1" dirty="0"/>
              <a:t>“</a:t>
            </a:r>
            <a:r>
              <a:rPr lang="en-GB" b="1" dirty="0" err="1"/>
              <a:t>हर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उसकी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•Do not add any additional instruction text in the play area.</a:t>
            </a:r>
          </a:p>
          <a:p>
            <a:r>
              <a:rPr lang="en-GB" dirty="0"/>
              <a:t>•Keep only the two coach labels:</a:t>
            </a:r>
          </a:p>
          <a:p>
            <a:r>
              <a:rPr lang="en-GB" b="1" dirty="0"/>
              <a:t>उ (ु)</a:t>
            </a:r>
            <a:endParaRPr lang="en-GB" dirty="0"/>
          </a:p>
          <a:p>
            <a:r>
              <a:rPr lang="en-GB" b="1" dirty="0"/>
              <a:t>ऊ (ू)</a:t>
            </a:r>
            <a:endParaRPr lang="en-GB" dirty="0"/>
          </a:p>
          <a:p>
            <a:r>
              <a:rPr lang="en-GB" dirty="0"/>
              <a:t>•Do not write </a:t>
            </a:r>
            <a:r>
              <a:rPr lang="en-GB" b="1" dirty="0" err="1"/>
              <a:t>छोटी</a:t>
            </a:r>
            <a:r>
              <a:rPr lang="en-GB" dirty="0"/>
              <a:t> or </a:t>
            </a:r>
            <a:r>
              <a:rPr lang="en-GB" b="1" dirty="0" err="1"/>
              <a:t>बड़ी</a:t>
            </a:r>
            <a:r>
              <a:rPr lang="en-GB" dirty="0"/>
              <a:t> on screen.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हर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उसकी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If additional support is required, VO can say:</a:t>
            </a:r>
          </a:p>
          <a:p>
            <a:r>
              <a:rPr lang="en-GB" b="1" dirty="0"/>
              <a:t>“उ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उ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ऊ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ऊ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•Each word card can also play its word VO when tapped or dragged:</a:t>
            </a:r>
          </a:p>
          <a:p>
            <a:r>
              <a:rPr lang="en-GB" b="1" dirty="0"/>
              <a:t>“</a:t>
            </a:r>
            <a:r>
              <a:rPr lang="en-GB" b="1" dirty="0" err="1"/>
              <a:t>आलू</a:t>
            </a:r>
            <a:r>
              <a:rPr lang="en-GB" b="1" dirty="0"/>
              <a:t>” / “</a:t>
            </a:r>
            <a:r>
              <a:rPr lang="en-GB" b="1" dirty="0" err="1"/>
              <a:t>सूरज</a:t>
            </a:r>
            <a:r>
              <a:rPr lang="en-GB" b="1" dirty="0"/>
              <a:t>” / “</a:t>
            </a:r>
            <a:r>
              <a:rPr lang="en-GB" b="1" dirty="0" err="1"/>
              <a:t>सुई</a:t>
            </a:r>
            <a:r>
              <a:rPr lang="en-GB" b="1" dirty="0"/>
              <a:t>” / “</a:t>
            </a:r>
            <a:r>
              <a:rPr lang="en-GB" b="1" dirty="0" err="1"/>
              <a:t>गुड़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b="1" dirty="0"/>
              <a:t>Drag and Drop</a:t>
            </a:r>
            <a:endParaRPr lang="en-GB" dirty="0"/>
          </a:p>
          <a:p>
            <a:r>
              <a:rPr lang="en-GB" dirty="0"/>
              <a:t>The child drags each word card into the correct coach.</a:t>
            </a:r>
          </a:p>
          <a:p>
            <a:r>
              <a:rPr lang="en-GB" dirty="0"/>
              <a:t>•</a:t>
            </a:r>
            <a:r>
              <a:rPr lang="en-GB" b="1" dirty="0" err="1"/>
              <a:t>सुई</a:t>
            </a:r>
            <a:r>
              <a:rPr lang="en-GB" b="1" dirty="0"/>
              <a:t> → उ (ु)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 err="1"/>
              <a:t>गुड़</a:t>
            </a:r>
            <a:r>
              <a:rPr lang="en-GB" b="1" dirty="0"/>
              <a:t> → उ (ु)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 err="1"/>
              <a:t>आलू</a:t>
            </a:r>
            <a:r>
              <a:rPr lang="en-GB" b="1" dirty="0"/>
              <a:t> → ऊ (ू)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 err="1"/>
              <a:t>सूरज</a:t>
            </a:r>
            <a:r>
              <a:rPr lang="en-GB" b="1" dirty="0"/>
              <a:t> → ऊ (ू)</a:t>
            </a:r>
            <a:endParaRPr lang="en-GB" dirty="0"/>
          </a:p>
          <a:p>
            <a:r>
              <a:rPr lang="en-GB" dirty="0"/>
              <a:t>•More than one word can be placed inside each coach.</a:t>
            </a:r>
          </a:p>
          <a:p>
            <a:r>
              <a:rPr lang="en-GB" dirty="0"/>
              <a:t>•While dragging, the selected card should slightly enlarge.</a:t>
            </a:r>
          </a:p>
          <a:p>
            <a:r>
              <a:rPr lang="en-GB" dirty="0"/>
              <a:t>•When the card reaches a coach, that coach gets a soft highlight.</a:t>
            </a:r>
          </a:p>
          <a:p>
            <a:r>
              <a:rPr lang="en-GB" b="1" dirty="0"/>
              <a:t>Correct Answer</a:t>
            </a:r>
            <a:endParaRPr lang="en-GB" dirty="0"/>
          </a:p>
          <a:p>
            <a:r>
              <a:rPr lang="en-GB" dirty="0"/>
              <a:t>•The word card snaps inside the correct coach.</a:t>
            </a:r>
          </a:p>
          <a:p>
            <a:r>
              <a:rPr lang="en-GB" dirty="0"/>
              <a:t>•Small </a:t>
            </a:r>
            <a:r>
              <a:rPr lang="en-GB" b="1" dirty="0"/>
              <a:t>confetti / sparkle animation</a:t>
            </a:r>
            <a:r>
              <a:rPr lang="en-GB" dirty="0"/>
              <a:t> appears around that coach.</a:t>
            </a:r>
          </a:p>
          <a:p>
            <a:r>
              <a:rPr lang="en-GB" dirty="0"/>
              <a:t>•The correctly placed card becomes locked and cannot be dragged again.</a:t>
            </a:r>
          </a:p>
          <a:p>
            <a:r>
              <a:rPr lang="en-GB" dirty="0"/>
              <a:t>•VO example:</a:t>
            </a:r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‘</a:t>
            </a:r>
            <a:r>
              <a:rPr lang="en-GB" b="1" dirty="0" err="1"/>
              <a:t>सुई</a:t>
            </a:r>
            <a:r>
              <a:rPr lang="en-GB" b="1" dirty="0"/>
              <a:t>’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उ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‘</a:t>
            </a:r>
            <a:r>
              <a:rPr lang="en-GB" b="1" dirty="0" err="1"/>
              <a:t>गुड़</a:t>
            </a:r>
            <a:r>
              <a:rPr lang="en-GB" b="1" dirty="0"/>
              <a:t>’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उ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‘</a:t>
            </a:r>
            <a:r>
              <a:rPr lang="en-GB" b="1" dirty="0" err="1"/>
              <a:t>आलू</a:t>
            </a:r>
            <a:r>
              <a:rPr lang="en-GB" b="1" dirty="0"/>
              <a:t>’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ऊ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‘</a:t>
            </a:r>
            <a:r>
              <a:rPr lang="en-GB" b="1" dirty="0" err="1"/>
              <a:t>सूरज</a:t>
            </a:r>
            <a:r>
              <a:rPr lang="en-GB" b="1" dirty="0"/>
              <a:t>’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ऊ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1st Wrong Attempt</a:t>
            </a:r>
            <a:endParaRPr lang="en-GB" dirty="0"/>
          </a:p>
          <a:p>
            <a:r>
              <a:rPr lang="en-GB" dirty="0"/>
              <a:t>•Wrong coach gives a short </a:t>
            </a:r>
            <a:r>
              <a:rPr lang="en-GB" b="1" dirty="0"/>
              <a:t>shake animation</a:t>
            </a:r>
            <a:r>
              <a:rPr lang="en-GB" dirty="0"/>
              <a:t>.</a:t>
            </a:r>
          </a:p>
          <a:p>
            <a:r>
              <a:rPr lang="en-GB" dirty="0"/>
              <a:t>•The word card smoothly returns to its original position.</a:t>
            </a:r>
          </a:p>
          <a:p>
            <a:r>
              <a:rPr lang="en-GB" dirty="0"/>
              <a:t>•No hand nudge.</a:t>
            </a:r>
          </a:p>
          <a:p>
            <a:r>
              <a:rPr lang="en-GB" dirty="0"/>
              <a:t>•Only hint VO should play.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पहचानिए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2nd Wrong Attempt</a:t>
            </a:r>
            <a:endParaRPr lang="en-GB" dirty="0"/>
          </a:p>
          <a:p>
            <a:r>
              <a:rPr lang="en-GB" dirty="0"/>
              <a:t>•Wrong coach again gives a </a:t>
            </a:r>
            <a:r>
              <a:rPr lang="en-GB" b="1" dirty="0"/>
              <a:t>shake animation</a:t>
            </a:r>
            <a:r>
              <a:rPr lang="en-GB" dirty="0"/>
              <a:t>.</a:t>
            </a:r>
          </a:p>
          <a:p>
            <a:r>
              <a:rPr lang="en-GB" dirty="0"/>
              <a:t>•The word card returns to its original position.</a:t>
            </a:r>
          </a:p>
          <a:p>
            <a:r>
              <a:rPr lang="en-GB" dirty="0"/>
              <a:t>•Hint VO should play.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ध्यान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, </a:t>
            </a:r>
            <a:r>
              <a:rPr lang="en-GB" b="1" dirty="0" err="1"/>
              <a:t>इस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कौन-सी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?”</a:t>
            </a:r>
            <a:endParaRPr lang="en-GB" dirty="0"/>
          </a:p>
          <a:p>
            <a:r>
              <a:rPr lang="en-GB" dirty="0"/>
              <a:t>•A </a:t>
            </a:r>
            <a:r>
              <a:rPr lang="en-GB" b="1" dirty="0"/>
              <a:t>hand nudge appears on the correct coach / drop area</a:t>
            </a:r>
            <a:r>
              <a:rPr lang="en-GB" dirty="0"/>
              <a:t>.</a:t>
            </a:r>
          </a:p>
          <a:p>
            <a:r>
              <a:rPr lang="en-GB" dirty="0"/>
              <a:t>•The correct coach also gives a soft </a:t>
            </a:r>
            <a:r>
              <a:rPr lang="en-GB" b="1" dirty="0"/>
              <a:t>pulse / glow</a:t>
            </a:r>
            <a:r>
              <a:rPr lang="en-GB" dirty="0"/>
              <a:t>.</a:t>
            </a:r>
          </a:p>
          <a:p>
            <a:r>
              <a:rPr lang="en-GB" b="1" dirty="0"/>
              <a:t>Correct Answer on 3rd Attempt</a:t>
            </a:r>
            <a:endParaRPr lang="en-GB" dirty="0"/>
          </a:p>
          <a:p>
            <a:r>
              <a:rPr lang="en-GB" dirty="0"/>
              <a:t>•The child drags the word into the correct coach.</a:t>
            </a:r>
          </a:p>
          <a:p>
            <a:r>
              <a:rPr lang="en-GB" dirty="0"/>
              <a:t>•Small </a:t>
            </a:r>
            <a:r>
              <a:rPr lang="en-GB" b="1" dirty="0"/>
              <a:t>confetti / sparkle animation</a:t>
            </a:r>
            <a:r>
              <a:rPr lang="en-GB" dirty="0"/>
              <a:t> appears.</a:t>
            </a:r>
          </a:p>
          <a:p>
            <a:r>
              <a:rPr lang="en-GB" dirty="0"/>
              <a:t>•</a:t>
            </a:r>
            <a:r>
              <a:rPr lang="en-GB" b="1" dirty="0"/>
              <a:t>No VO.</a:t>
            </a:r>
            <a:endParaRPr lang="en-GB" dirty="0"/>
          </a:p>
          <a:p>
            <a:r>
              <a:rPr lang="en-GB" dirty="0"/>
              <a:t>•The word locks inside the coach.</a:t>
            </a:r>
          </a:p>
          <a:p>
            <a:r>
              <a:rPr lang="en-GB" b="1" dirty="0"/>
              <a:t>Completion</a:t>
            </a:r>
            <a:endParaRPr lang="en-GB" dirty="0"/>
          </a:p>
          <a:p>
            <a:r>
              <a:rPr lang="en-GB" dirty="0"/>
              <a:t>When all four words are placed correctly:</a:t>
            </a:r>
          </a:p>
          <a:p>
            <a:r>
              <a:rPr lang="en-GB" dirty="0"/>
              <a:t>•Both coaches give a soft glow.</a:t>
            </a:r>
          </a:p>
          <a:p>
            <a:r>
              <a:rPr lang="en-GB" dirty="0"/>
              <a:t>•Train gives a small </a:t>
            </a:r>
            <a:r>
              <a:rPr lang="en-GB" b="1" dirty="0"/>
              <a:t>whistle / steam animation</a:t>
            </a:r>
            <a:r>
              <a:rPr lang="en-GB" dirty="0"/>
              <a:t>.</a:t>
            </a:r>
          </a:p>
          <a:p>
            <a:r>
              <a:rPr lang="en-GB" dirty="0"/>
              <a:t>•</a:t>
            </a:r>
            <a:r>
              <a:rPr lang="en-GB" b="1" dirty="0"/>
              <a:t>Next button becomes active</a:t>
            </a:r>
            <a:r>
              <a:rPr lang="en-GB" dirty="0"/>
              <a:t>.</a:t>
            </a:r>
          </a:p>
          <a:p>
            <a:r>
              <a:rPr lang="en-GB" dirty="0"/>
              <a:t>•No extra completion VO required.</a:t>
            </a:r>
          </a:p>
          <a:p>
            <a:r>
              <a:rPr lang="en-GB" b="1" dirty="0"/>
              <a:t>SFX</a:t>
            </a:r>
            <a:endParaRPr lang="en-GB" dirty="0"/>
          </a:p>
          <a:p>
            <a:r>
              <a:rPr lang="en-GB" dirty="0"/>
              <a:t>•Soft </a:t>
            </a:r>
            <a:r>
              <a:rPr lang="en-GB" b="1" dirty="0"/>
              <a:t>train arrival / whistle sound</a:t>
            </a:r>
            <a:r>
              <a:rPr lang="en-GB" dirty="0"/>
              <a:t>.</a:t>
            </a:r>
          </a:p>
          <a:p>
            <a:r>
              <a:rPr lang="en-GB" dirty="0"/>
              <a:t>•Light </a:t>
            </a:r>
            <a:r>
              <a:rPr lang="en-GB" b="1" dirty="0"/>
              <a:t>tap / pick-up sound</a:t>
            </a:r>
            <a:r>
              <a:rPr lang="en-GB" dirty="0"/>
              <a:t> when a card is selected.</a:t>
            </a:r>
          </a:p>
          <a:p>
            <a:r>
              <a:rPr lang="en-GB" dirty="0"/>
              <a:t>•Soft </a:t>
            </a:r>
            <a:r>
              <a:rPr lang="en-GB" b="1" dirty="0"/>
              <a:t>drop sound</a:t>
            </a:r>
            <a:r>
              <a:rPr lang="en-GB" dirty="0"/>
              <a:t> when the card is placed.</a:t>
            </a:r>
          </a:p>
          <a:p>
            <a:r>
              <a:rPr lang="en-GB" dirty="0"/>
              <a:t>•Soft </a:t>
            </a:r>
            <a:r>
              <a:rPr lang="en-GB" b="1" dirty="0"/>
              <a:t>shake / error sound</a:t>
            </a:r>
            <a:r>
              <a:rPr lang="en-GB" dirty="0"/>
              <a:t> on a wrong attempt.</a:t>
            </a:r>
          </a:p>
          <a:p>
            <a:r>
              <a:rPr lang="en-GB" dirty="0"/>
              <a:t>•Light </a:t>
            </a:r>
            <a:r>
              <a:rPr lang="en-GB" b="1" dirty="0"/>
              <a:t>success chime</a:t>
            </a:r>
            <a:r>
              <a:rPr lang="en-GB" dirty="0"/>
              <a:t> on correct placement.</a:t>
            </a:r>
          </a:p>
          <a:p>
            <a:r>
              <a:rPr lang="en-GB" b="1" dirty="0"/>
              <a:t>Next Button</a:t>
            </a:r>
            <a:endParaRPr lang="en-GB" dirty="0"/>
          </a:p>
          <a:p>
            <a:r>
              <a:rPr lang="en-GB" dirty="0"/>
              <a:t>•Keep the </a:t>
            </a:r>
            <a:r>
              <a:rPr lang="en-GB" b="1" dirty="0"/>
              <a:t>Next</a:t>
            </a:r>
            <a:r>
              <a:rPr lang="en-GB" dirty="0"/>
              <a:t> button disabled initially.</a:t>
            </a:r>
          </a:p>
          <a:p>
            <a:r>
              <a:rPr lang="en-GB" dirty="0"/>
              <a:t>•Activate it only after all four words are placed correctly.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812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Entry Animation</a:t>
            </a:r>
            <a:endParaRPr lang="en-GB" dirty="0"/>
          </a:p>
          <a:p>
            <a:r>
              <a:rPr lang="en-GB" dirty="0"/>
              <a:t>•Train comes through animation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r>
              <a:rPr lang="en-GB" dirty="0"/>
              <a:t>•The train stops at the centre of the screen.</a:t>
            </a:r>
          </a:p>
          <a:p>
            <a:r>
              <a:rPr lang="en-GB" dirty="0"/>
              <a:t>•Two coaches are visible.</a:t>
            </a:r>
          </a:p>
          <a:p>
            <a:r>
              <a:rPr lang="en-GB" dirty="0"/>
              <a:t>•Remove the current words </a:t>
            </a:r>
            <a:r>
              <a:rPr lang="en-GB" b="1" dirty="0" err="1"/>
              <a:t>पुल</a:t>
            </a:r>
            <a:r>
              <a:rPr lang="en-GB" dirty="0"/>
              <a:t> and </a:t>
            </a:r>
            <a:r>
              <a:rPr lang="en-GB" b="1" dirty="0" err="1"/>
              <a:t>फूल</a:t>
            </a:r>
            <a:r>
              <a:rPr lang="en-GB" dirty="0"/>
              <a:t> from above the coaches.</a:t>
            </a:r>
          </a:p>
          <a:p>
            <a:r>
              <a:rPr lang="en-GB" dirty="0"/>
              <a:t>•Replace them with only the letters:</a:t>
            </a:r>
          </a:p>
          <a:p>
            <a:r>
              <a:rPr lang="en-GB" dirty="0"/>
              <a:t>•</a:t>
            </a:r>
            <a:r>
              <a:rPr lang="en-GB" b="1" dirty="0"/>
              <a:t>1st coach:</a:t>
            </a:r>
            <a:r>
              <a:rPr lang="en-GB" dirty="0"/>
              <a:t> </a:t>
            </a:r>
            <a:r>
              <a:rPr lang="en-GB" b="1" dirty="0"/>
              <a:t>उ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/>
              <a:t>2nd coach:</a:t>
            </a:r>
            <a:r>
              <a:rPr lang="en-GB" dirty="0"/>
              <a:t> </a:t>
            </a:r>
            <a:r>
              <a:rPr lang="en-GB" b="1" dirty="0"/>
              <a:t>ऊ</a:t>
            </a:r>
            <a:endParaRPr lang="en-GB" dirty="0"/>
          </a:p>
          <a:p>
            <a:r>
              <a:rPr lang="en-GB" dirty="0"/>
              <a:t>•Do not show the </a:t>
            </a:r>
            <a:r>
              <a:rPr lang="en-GB" dirty="0" err="1"/>
              <a:t>matra</a:t>
            </a:r>
            <a:r>
              <a:rPr lang="en-GB" dirty="0"/>
              <a:t> symbols in the coach labels.</a:t>
            </a:r>
          </a:p>
          <a:p>
            <a:r>
              <a:rPr lang="en-GB" dirty="0"/>
              <a:t>•The inside drop area of both coaches remains empty.</a:t>
            </a:r>
          </a:p>
          <a:p>
            <a:r>
              <a:rPr lang="en-GB" dirty="0"/>
              <a:t>•Two draggable </a:t>
            </a:r>
            <a:r>
              <a:rPr lang="en-GB" dirty="0" err="1"/>
              <a:t>matra</a:t>
            </a:r>
            <a:r>
              <a:rPr lang="en-GB" dirty="0"/>
              <a:t> cards appear below the train:</a:t>
            </a:r>
          </a:p>
          <a:p>
            <a:r>
              <a:rPr lang="en-GB" dirty="0"/>
              <a:t>•</a:t>
            </a:r>
            <a:r>
              <a:rPr lang="en-GB" b="1" dirty="0"/>
              <a:t>ु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/>
              <a:t>ू</a:t>
            </a:r>
            <a:endParaRPr lang="en-GB" dirty="0"/>
          </a:p>
          <a:p>
            <a:r>
              <a:rPr lang="en-GB" b="1" dirty="0"/>
              <a:t>On Screen</a:t>
            </a:r>
            <a:endParaRPr lang="en-GB" dirty="0"/>
          </a:p>
          <a:p>
            <a:r>
              <a:rPr lang="en-GB" dirty="0"/>
              <a:t>•Keep the heading at the top:</a:t>
            </a:r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•Do not add any additional instruction text in the play area.</a:t>
            </a:r>
          </a:p>
          <a:p>
            <a:r>
              <a:rPr lang="en-GB" dirty="0"/>
              <a:t>•Keep only the two coach labels:</a:t>
            </a:r>
          </a:p>
          <a:p>
            <a:r>
              <a:rPr lang="en-GB" b="1" dirty="0"/>
              <a:t>उ</a:t>
            </a:r>
            <a:endParaRPr lang="en-GB" dirty="0"/>
          </a:p>
          <a:p>
            <a:r>
              <a:rPr lang="en-GB" b="1" dirty="0"/>
              <a:t>ऊ</a:t>
            </a:r>
            <a:endParaRPr lang="en-GB" dirty="0"/>
          </a:p>
          <a:p>
            <a:r>
              <a:rPr lang="en-GB" dirty="0"/>
              <a:t>•Do not use </a:t>
            </a:r>
            <a:r>
              <a:rPr lang="en-GB" b="1" dirty="0" err="1"/>
              <a:t>छोटी</a:t>
            </a:r>
            <a:r>
              <a:rPr lang="en-GB" b="1" dirty="0"/>
              <a:t> / </a:t>
            </a:r>
            <a:r>
              <a:rPr lang="en-GB" b="1" dirty="0" err="1"/>
              <a:t>बड़ी</a:t>
            </a:r>
            <a:r>
              <a:rPr lang="en-GB" dirty="0"/>
              <a:t> or </a:t>
            </a:r>
            <a:r>
              <a:rPr lang="en-GB" dirty="0" err="1"/>
              <a:t>matra</a:t>
            </a:r>
            <a:r>
              <a:rPr lang="en-GB" dirty="0"/>
              <a:t> symbols in the coach headings.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उसके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If additional support is required, VO can say:</a:t>
            </a:r>
          </a:p>
          <a:p>
            <a:r>
              <a:rPr lang="en-GB" b="1" dirty="0"/>
              <a:t>“उ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उ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ऊ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ऊ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Drag and Drop</a:t>
            </a:r>
            <a:endParaRPr lang="en-GB" dirty="0"/>
          </a:p>
          <a:p>
            <a:r>
              <a:rPr lang="en-GB" dirty="0"/>
              <a:t>The child drags each </a:t>
            </a:r>
            <a:r>
              <a:rPr lang="en-GB" dirty="0" err="1"/>
              <a:t>matra</a:t>
            </a:r>
            <a:r>
              <a:rPr lang="en-GB" dirty="0"/>
              <a:t> card into the correct coach.</a:t>
            </a:r>
          </a:p>
          <a:p>
            <a:r>
              <a:rPr lang="en-GB" dirty="0"/>
              <a:t>•</a:t>
            </a:r>
            <a:r>
              <a:rPr lang="en-GB" b="1" dirty="0"/>
              <a:t>ु → उ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/>
              <a:t>ू → ऊ</a:t>
            </a:r>
            <a:endParaRPr lang="en-GB" dirty="0"/>
          </a:p>
          <a:p>
            <a:r>
              <a:rPr lang="en-GB" dirty="0"/>
              <a:t>•Only </a:t>
            </a:r>
            <a:r>
              <a:rPr lang="en-GB" b="1" dirty="0"/>
              <a:t>one </a:t>
            </a:r>
            <a:r>
              <a:rPr lang="en-GB" b="1" dirty="0" err="1"/>
              <a:t>matra</a:t>
            </a:r>
            <a:r>
              <a:rPr lang="en-GB" b="1" dirty="0"/>
              <a:t> card</a:t>
            </a:r>
            <a:r>
              <a:rPr lang="en-GB" dirty="0"/>
              <a:t> can be placed inside each coach.</a:t>
            </a:r>
          </a:p>
          <a:p>
            <a:r>
              <a:rPr lang="en-GB" dirty="0"/>
              <a:t>•While dragging, the selected </a:t>
            </a:r>
            <a:r>
              <a:rPr lang="en-GB" dirty="0" err="1"/>
              <a:t>matra</a:t>
            </a:r>
            <a:r>
              <a:rPr lang="en-GB" dirty="0"/>
              <a:t> card should slightly enlarge.</a:t>
            </a:r>
          </a:p>
          <a:p>
            <a:r>
              <a:rPr lang="en-GB" dirty="0"/>
              <a:t>•When the card reaches a coach, that coach should get a soft </a:t>
            </a:r>
            <a:r>
              <a:rPr lang="en-GB" b="1" dirty="0"/>
              <a:t>highlight / glow</a:t>
            </a:r>
            <a:r>
              <a:rPr lang="en-GB" dirty="0"/>
              <a:t>.</a:t>
            </a:r>
          </a:p>
          <a:p>
            <a:r>
              <a:rPr lang="en-GB" b="1" dirty="0"/>
              <a:t>Correct Answer</a:t>
            </a:r>
            <a:endParaRPr lang="en-GB" dirty="0"/>
          </a:p>
          <a:p>
            <a:r>
              <a:rPr lang="en-GB" dirty="0"/>
              <a:t>•The </a:t>
            </a:r>
            <a:r>
              <a:rPr lang="en-GB" dirty="0" err="1"/>
              <a:t>matra</a:t>
            </a:r>
            <a:r>
              <a:rPr lang="en-GB" dirty="0"/>
              <a:t> card snaps inside the correct coach.</a:t>
            </a:r>
          </a:p>
          <a:p>
            <a:r>
              <a:rPr lang="en-GB" dirty="0"/>
              <a:t>•Small </a:t>
            </a:r>
            <a:r>
              <a:rPr lang="en-GB" b="1" dirty="0"/>
              <a:t>confetti / sparkle animation</a:t>
            </a:r>
            <a:r>
              <a:rPr lang="en-GB" dirty="0"/>
              <a:t> appears around that coach.</a:t>
            </a:r>
          </a:p>
          <a:p>
            <a:r>
              <a:rPr lang="en-GB" dirty="0"/>
              <a:t>•The correctly placed card becomes locked and cannot be dragged again.</a:t>
            </a:r>
          </a:p>
          <a:p>
            <a:r>
              <a:rPr lang="en-GB" dirty="0"/>
              <a:t>•VO for </a:t>
            </a:r>
            <a:r>
              <a:rPr lang="en-GB" b="1" dirty="0"/>
              <a:t>ु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यह</a:t>
            </a:r>
            <a:r>
              <a:rPr lang="en-GB" b="1" dirty="0"/>
              <a:t> उ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•VO for </a:t>
            </a:r>
            <a:r>
              <a:rPr lang="en-GB" b="1" dirty="0"/>
              <a:t>ू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यह</a:t>
            </a:r>
            <a:r>
              <a:rPr lang="en-GB" b="1" dirty="0"/>
              <a:t> ऊ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1st Wrong Attempt</a:t>
            </a:r>
            <a:endParaRPr lang="en-GB" dirty="0"/>
          </a:p>
          <a:p>
            <a:r>
              <a:rPr lang="en-GB" dirty="0"/>
              <a:t>•Wrong coach gives a short </a:t>
            </a:r>
            <a:r>
              <a:rPr lang="en-GB" b="1" dirty="0"/>
              <a:t>shake animation</a:t>
            </a:r>
            <a:r>
              <a:rPr lang="en-GB" dirty="0"/>
              <a:t>.</a:t>
            </a:r>
          </a:p>
          <a:p>
            <a:r>
              <a:rPr lang="en-GB" dirty="0"/>
              <a:t>•The </a:t>
            </a:r>
            <a:r>
              <a:rPr lang="en-GB" dirty="0" err="1"/>
              <a:t>matra</a:t>
            </a:r>
            <a:r>
              <a:rPr lang="en-GB" dirty="0"/>
              <a:t> card smoothly returns to its original position.</a:t>
            </a:r>
          </a:p>
          <a:p>
            <a:r>
              <a:rPr lang="en-GB" dirty="0"/>
              <a:t>•No hand nudge.</a:t>
            </a:r>
          </a:p>
          <a:p>
            <a:r>
              <a:rPr lang="en-GB" dirty="0"/>
              <a:t>•Only hint VO should play.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पहचानिए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2nd Wrong Attempt</a:t>
            </a:r>
            <a:endParaRPr lang="en-GB" dirty="0"/>
          </a:p>
          <a:p>
            <a:r>
              <a:rPr lang="en-GB" dirty="0"/>
              <a:t>•Wrong coach again gives a </a:t>
            </a:r>
            <a:r>
              <a:rPr lang="en-GB" b="1" dirty="0"/>
              <a:t>shake animation</a:t>
            </a:r>
            <a:r>
              <a:rPr lang="en-GB" dirty="0"/>
              <a:t>.</a:t>
            </a:r>
          </a:p>
          <a:p>
            <a:r>
              <a:rPr lang="en-GB" dirty="0"/>
              <a:t>•The </a:t>
            </a:r>
            <a:r>
              <a:rPr lang="en-GB" dirty="0" err="1"/>
              <a:t>matra</a:t>
            </a:r>
            <a:r>
              <a:rPr lang="en-GB" dirty="0"/>
              <a:t> card returns to its original position.</a:t>
            </a:r>
          </a:p>
          <a:p>
            <a:r>
              <a:rPr lang="en-GB" dirty="0"/>
              <a:t>•Hint VO should play.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ध्यान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, 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किसकी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?”</a:t>
            </a:r>
            <a:endParaRPr lang="en-GB" dirty="0"/>
          </a:p>
          <a:p>
            <a:r>
              <a:rPr lang="en-GB" dirty="0"/>
              <a:t>•A </a:t>
            </a:r>
            <a:r>
              <a:rPr lang="en-GB" b="1" dirty="0"/>
              <a:t>hand nudge appears on the correct coach / drop area</a:t>
            </a:r>
            <a:r>
              <a:rPr lang="en-GB" dirty="0"/>
              <a:t>.</a:t>
            </a:r>
          </a:p>
          <a:p>
            <a:r>
              <a:rPr lang="en-GB" dirty="0"/>
              <a:t>•The correct coach should also give a soft </a:t>
            </a:r>
            <a:r>
              <a:rPr lang="en-GB" b="1" dirty="0"/>
              <a:t>pulse / glow</a:t>
            </a:r>
            <a:r>
              <a:rPr lang="en-GB" dirty="0"/>
              <a:t>.</a:t>
            </a:r>
          </a:p>
          <a:p>
            <a:r>
              <a:rPr lang="en-GB" b="1" dirty="0"/>
              <a:t>Correct Answer on 3rd Attempt</a:t>
            </a:r>
            <a:endParaRPr lang="en-GB" dirty="0"/>
          </a:p>
          <a:p>
            <a:r>
              <a:rPr lang="en-GB" dirty="0"/>
              <a:t>•The child drags the </a:t>
            </a:r>
            <a:r>
              <a:rPr lang="en-GB" dirty="0" err="1"/>
              <a:t>matra</a:t>
            </a:r>
            <a:r>
              <a:rPr lang="en-GB" dirty="0"/>
              <a:t> into the correct coach.</a:t>
            </a:r>
          </a:p>
          <a:p>
            <a:r>
              <a:rPr lang="en-GB" dirty="0"/>
              <a:t>•Small </a:t>
            </a:r>
            <a:r>
              <a:rPr lang="en-GB" b="1" dirty="0"/>
              <a:t>confetti / sparkle animation</a:t>
            </a:r>
            <a:r>
              <a:rPr lang="en-GB" dirty="0"/>
              <a:t> appears.</a:t>
            </a:r>
          </a:p>
          <a:p>
            <a:r>
              <a:rPr lang="en-GB" dirty="0"/>
              <a:t>•</a:t>
            </a:r>
            <a:r>
              <a:rPr lang="en-GB" b="1" dirty="0"/>
              <a:t>No VO.</a:t>
            </a:r>
            <a:endParaRPr lang="en-GB" dirty="0"/>
          </a:p>
          <a:p>
            <a:r>
              <a:rPr lang="en-GB" dirty="0"/>
              <a:t>•The </a:t>
            </a:r>
            <a:r>
              <a:rPr lang="en-GB" dirty="0" err="1"/>
              <a:t>matra</a:t>
            </a:r>
            <a:r>
              <a:rPr lang="en-GB" dirty="0"/>
              <a:t> locks inside the coach.</a:t>
            </a:r>
          </a:p>
          <a:p>
            <a:r>
              <a:rPr lang="en-GB" b="1" dirty="0"/>
              <a:t>Completion</a:t>
            </a:r>
            <a:endParaRPr lang="en-GB" dirty="0"/>
          </a:p>
          <a:p>
            <a:r>
              <a:rPr lang="en-GB" dirty="0"/>
              <a:t>When both </a:t>
            </a:r>
            <a:r>
              <a:rPr lang="en-GB" dirty="0" err="1"/>
              <a:t>matras</a:t>
            </a:r>
            <a:r>
              <a:rPr lang="en-GB" dirty="0"/>
              <a:t> are placed correctly:</a:t>
            </a:r>
          </a:p>
          <a:p>
            <a:r>
              <a:rPr lang="en-GB" dirty="0"/>
              <a:t>•Both coaches give a soft glow.</a:t>
            </a:r>
          </a:p>
          <a:p>
            <a:r>
              <a:rPr lang="en-GB" dirty="0"/>
              <a:t>•Train gives a small </a:t>
            </a:r>
            <a:r>
              <a:rPr lang="en-GB" b="1" dirty="0"/>
              <a:t>whistle / steam animation</a:t>
            </a:r>
            <a:r>
              <a:rPr lang="en-GB" dirty="0"/>
              <a:t>.</a:t>
            </a:r>
          </a:p>
          <a:p>
            <a:r>
              <a:rPr lang="en-GB" dirty="0"/>
              <a:t>•</a:t>
            </a:r>
            <a:r>
              <a:rPr lang="en-GB" b="1" dirty="0"/>
              <a:t>Next button becomes active</a:t>
            </a:r>
            <a:r>
              <a:rPr lang="en-GB" dirty="0"/>
              <a:t>.</a:t>
            </a:r>
          </a:p>
          <a:p>
            <a:r>
              <a:rPr lang="en-GB" dirty="0"/>
              <a:t>•No extra completion VO required.</a:t>
            </a:r>
          </a:p>
          <a:p>
            <a:r>
              <a:rPr lang="en-GB" b="1" dirty="0"/>
              <a:t>SFX</a:t>
            </a:r>
            <a:endParaRPr lang="en-GB" dirty="0"/>
          </a:p>
          <a:p>
            <a:r>
              <a:rPr lang="en-GB" dirty="0"/>
              <a:t>•Soft </a:t>
            </a:r>
            <a:r>
              <a:rPr lang="en-GB" b="1" dirty="0"/>
              <a:t>train arrival / whistle sound</a:t>
            </a:r>
            <a:r>
              <a:rPr lang="en-GB" dirty="0"/>
              <a:t>.</a:t>
            </a:r>
          </a:p>
          <a:p>
            <a:r>
              <a:rPr lang="en-GB" dirty="0"/>
              <a:t>•Light </a:t>
            </a:r>
            <a:r>
              <a:rPr lang="en-GB" b="1" dirty="0"/>
              <a:t>tap / pick-up sound</a:t>
            </a:r>
            <a:r>
              <a:rPr lang="en-GB" dirty="0"/>
              <a:t> when a </a:t>
            </a:r>
            <a:r>
              <a:rPr lang="en-GB" dirty="0" err="1"/>
              <a:t>matra</a:t>
            </a:r>
            <a:r>
              <a:rPr lang="en-GB" dirty="0"/>
              <a:t> card is selected.</a:t>
            </a:r>
          </a:p>
          <a:p>
            <a:r>
              <a:rPr lang="en-GB" dirty="0"/>
              <a:t>•Soft </a:t>
            </a:r>
            <a:r>
              <a:rPr lang="en-GB" b="1" dirty="0"/>
              <a:t>drop sound</a:t>
            </a:r>
            <a:r>
              <a:rPr lang="en-GB" dirty="0"/>
              <a:t> when the </a:t>
            </a:r>
            <a:r>
              <a:rPr lang="en-GB" dirty="0" err="1"/>
              <a:t>matra</a:t>
            </a:r>
            <a:r>
              <a:rPr lang="en-GB" dirty="0"/>
              <a:t> is placed.</a:t>
            </a:r>
          </a:p>
          <a:p>
            <a:r>
              <a:rPr lang="en-GB" dirty="0"/>
              <a:t>•Soft </a:t>
            </a:r>
            <a:r>
              <a:rPr lang="en-GB" b="1" dirty="0"/>
              <a:t>shake / error sound</a:t>
            </a:r>
            <a:r>
              <a:rPr lang="en-GB" dirty="0"/>
              <a:t> on a wrong attempt.</a:t>
            </a:r>
          </a:p>
          <a:p>
            <a:r>
              <a:rPr lang="en-GB" dirty="0"/>
              <a:t>•Light </a:t>
            </a:r>
            <a:r>
              <a:rPr lang="en-GB" b="1" dirty="0"/>
              <a:t>success chime</a:t>
            </a:r>
            <a:r>
              <a:rPr lang="en-GB" dirty="0"/>
              <a:t> on correct placement.</a:t>
            </a:r>
          </a:p>
          <a:p>
            <a:r>
              <a:rPr lang="en-GB" b="1" dirty="0"/>
              <a:t>Next Button</a:t>
            </a:r>
            <a:endParaRPr lang="en-GB" dirty="0"/>
          </a:p>
          <a:p>
            <a:r>
              <a:rPr lang="en-GB" dirty="0"/>
              <a:t>•Keep the </a:t>
            </a:r>
            <a:r>
              <a:rPr lang="en-GB" b="1" dirty="0"/>
              <a:t>Next</a:t>
            </a:r>
            <a:r>
              <a:rPr lang="en-GB" dirty="0"/>
              <a:t> button disabled initially.</a:t>
            </a:r>
          </a:p>
          <a:p>
            <a:r>
              <a:rPr lang="en-GB" dirty="0"/>
              <a:t>•Activate it only after </a:t>
            </a:r>
            <a:r>
              <a:rPr lang="en-GB" b="1" dirty="0"/>
              <a:t>both </a:t>
            </a:r>
            <a:r>
              <a:rPr lang="en-GB" b="1" dirty="0" err="1"/>
              <a:t>matras</a:t>
            </a:r>
            <a:r>
              <a:rPr lang="en-GB" dirty="0"/>
              <a:t> are placed correctly.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011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Activity Concept</a:t>
            </a:r>
            <a:endParaRPr lang="en-GB" dirty="0"/>
          </a:p>
          <a:p>
            <a:r>
              <a:rPr lang="en-GB" dirty="0"/>
              <a:t>•This activity will be a </a:t>
            </a:r>
            <a:r>
              <a:rPr lang="en-GB" b="1" dirty="0"/>
              <a:t>word completion train activity</a:t>
            </a:r>
            <a:r>
              <a:rPr lang="en-GB" dirty="0"/>
              <a:t>.</a:t>
            </a:r>
          </a:p>
          <a:p>
            <a:r>
              <a:rPr lang="en-GB" dirty="0"/>
              <a:t>•Show a train with </a:t>
            </a:r>
            <a:r>
              <a:rPr lang="en-GB" b="1" dirty="0"/>
              <a:t>three coaches</a:t>
            </a:r>
            <a:r>
              <a:rPr lang="en-GB" dirty="0"/>
              <a:t>.</a:t>
            </a:r>
          </a:p>
          <a:p>
            <a:r>
              <a:rPr lang="en-GB" dirty="0"/>
              <a:t>•Each coach will contain an incomplete word with the </a:t>
            </a:r>
            <a:r>
              <a:rPr lang="en-GB" b="1" dirty="0"/>
              <a:t>first and last letters visible</a:t>
            </a:r>
            <a:r>
              <a:rPr lang="en-GB" dirty="0"/>
              <a:t> and a blank space in between where the missing </a:t>
            </a:r>
            <a:r>
              <a:rPr lang="en-GB" dirty="0" err="1"/>
              <a:t>अक्षर</a:t>
            </a:r>
            <a:r>
              <a:rPr lang="en-GB" dirty="0"/>
              <a:t>/</a:t>
            </a:r>
            <a:r>
              <a:rPr lang="en-GB" dirty="0" err="1"/>
              <a:t>मात्रा</a:t>
            </a:r>
            <a:r>
              <a:rPr lang="en-GB" dirty="0"/>
              <a:t> combination should be added.</a:t>
            </a:r>
          </a:p>
          <a:p>
            <a:r>
              <a:rPr lang="en-GB" dirty="0"/>
              <a:t>•The child will look at the picture above the coach, understand the word, and drag the correct </a:t>
            </a:r>
            <a:r>
              <a:rPr lang="en-GB" dirty="0" err="1"/>
              <a:t>अक्षर</a:t>
            </a:r>
            <a:r>
              <a:rPr lang="en-GB" dirty="0"/>
              <a:t> option to complete the word.</a:t>
            </a:r>
          </a:p>
          <a:p>
            <a:r>
              <a:rPr lang="en-GB" b="1" dirty="0"/>
              <a:t>Use these words:</a:t>
            </a:r>
            <a:endParaRPr lang="en-GB" dirty="0"/>
          </a:p>
          <a:p>
            <a:r>
              <a:rPr lang="en-GB" dirty="0"/>
              <a:t>•Bridge image:</a:t>
            </a:r>
          </a:p>
          <a:p>
            <a:r>
              <a:rPr lang="en-GB" b="1" dirty="0"/>
              <a:t>_ल → </a:t>
            </a:r>
            <a:r>
              <a:rPr lang="en-GB" b="1" dirty="0" err="1"/>
              <a:t>पुल</a:t>
            </a:r>
            <a:endParaRPr lang="en-GB" dirty="0"/>
          </a:p>
          <a:p>
            <a:r>
              <a:rPr lang="en-GB" dirty="0"/>
              <a:t>Correct option:</a:t>
            </a:r>
          </a:p>
          <a:p>
            <a:r>
              <a:rPr lang="en-GB" b="1" dirty="0" err="1"/>
              <a:t>पु</a:t>
            </a:r>
            <a:endParaRPr lang="en-GB" dirty="0"/>
          </a:p>
          <a:p>
            <a:r>
              <a:rPr lang="en-GB" dirty="0"/>
              <a:t>•Flower image:</a:t>
            </a:r>
          </a:p>
          <a:p>
            <a:r>
              <a:rPr lang="en-GB" b="1" dirty="0"/>
              <a:t>_ल → </a:t>
            </a:r>
            <a:r>
              <a:rPr lang="en-GB" b="1" dirty="0" err="1"/>
              <a:t>फूल</a:t>
            </a:r>
            <a:endParaRPr lang="en-GB" dirty="0"/>
          </a:p>
          <a:p>
            <a:r>
              <a:rPr lang="en-GB" dirty="0"/>
              <a:t>Correct option:</a:t>
            </a:r>
          </a:p>
          <a:p>
            <a:r>
              <a:rPr lang="en-GB" b="1" dirty="0" err="1"/>
              <a:t>फू</a:t>
            </a:r>
            <a:endParaRPr lang="en-GB" dirty="0"/>
          </a:p>
          <a:p>
            <a:r>
              <a:rPr lang="en-GB" dirty="0"/>
              <a:t>•Needle image:</a:t>
            </a:r>
          </a:p>
          <a:p>
            <a:r>
              <a:rPr lang="en-GB" b="1" dirty="0"/>
              <a:t>_ई → </a:t>
            </a:r>
            <a:r>
              <a:rPr lang="en-GB" b="1" dirty="0" err="1"/>
              <a:t>सुई</a:t>
            </a:r>
            <a:endParaRPr lang="en-GB" dirty="0"/>
          </a:p>
          <a:p>
            <a:r>
              <a:rPr lang="en-GB" dirty="0"/>
              <a:t>Correct option:</a:t>
            </a:r>
          </a:p>
          <a:p>
            <a:r>
              <a:rPr lang="en-GB" b="1" dirty="0" err="1"/>
              <a:t>सु</a:t>
            </a:r>
            <a:endParaRPr lang="en-GB" dirty="0"/>
          </a:p>
          <a:p>
            <a:r>
              <a:rPr lang="en-GB" b="1" dirty="0"/>
              <a:t>On Screen</a:t>
            </a:r>
            <a:endParaRPr lang="en-GB" dirty="0"/>
          </a:p>
          <a:p>
            <a:r>
              <a:rPr lang="en-GB" dirty="0"/>
              <a:t>•Train with </a:t>
            </a:r>
            <a:r>
              <a:rPr lang="en-GB" b="1" dirty="0"/>
              <a:t>three coaches</a:t>
            </a:r>
            <a:r>
              <a:rPr lang="en-GB" dirty="0"/>
              <a:t>.</a:t>
            </a:r>
          </a:p>
          <a:p>
            <a:r>
              <a:rPr lang="en-GB" dirty="0"/>
              <a:t>•Keep only the last letter visible inside each coach:</a:t>
            </a:r>
          </a:p>
          <a:p>
            <a:r>
              <a:rPr lang="en-GB" dirty="0"/>
              <a:t>•</a:t>
            </a:r>
            <a:r>
              <a:rPr lang="en-GB" b="1" dirty="0"/>
              <a:t>_ल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/>
              <a:t>_ल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/>
              <a:t>_ई</a:t>
            </a:r>
            <a:endParaRPr lang="en-GB" dirty="0"/>
          </a:p>
          <a:p>
            <a:r>
              <a:rPr lang="en-GB" dirty="0"/>
              <a:t>•Show related pictures above each coach:</a:t>
            </a:r>
          </a:p>
          <a:p>
            <a:r>
              <a:rPr lang="en-GB" dirty="0"/>
              <a:t>•Bridge → </a:t>
            </a:r>
            <a:r>
              <a:rPr lang="en-GB" dirty="0" err="1"/>
              <a:t>पुल</a:t>
            </a:r>
            <a:endParaRPr lang="en-GB" dirty="0"/>
          </a:p>
          <a:p>
            <a:r>
              <a:rPr lang="en-GB" dirty="0"/>
              <a:t>•Flower → </a:t>
            </a:r>
            <a:r>
              <a:rPr lang="en-GB" dirty="0" err="1"/>
              <a:t>फूल</a:t>
            </a:r>
            <a:endParaRPr lang="en-GB" dirty="0"/>
          </a:p>
          <a:p>
            <a:r>
              <a:rPr lang="en-GB" dirty="0"/>
              <a:t>•Needle → </a:t>
            </a:r>
            <a:r>
              <a:rPr lang="en-GB" dirty="0" err="1"/>
              <a:t>सुई</a:t>
            </a:r>
            <a:endParaRPr lang="en-GB" dirty="0"/>
          </a:p>
          <a:p>
            <a:r>
              <a:rPr lang="en-GB" dirty="0"/>
              <a:t>•Below the train, show draggable options:</a:t>
            </a:r>
          </a:p>
          <a:p>
            <a:r>
              <a:rPr lang="en-GB" dirty="0"/>
              <a:t>•</a:t>
            </a:r>
            <a:r>
              <a:rPr lang="en-GB" b="1" dirty="0" err="1"/>
              <a:t>पु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 err="1"/>
              <a:t>फू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 err="1"/>
              <a:t>सु</a:t>
            </a:r>
            <a:endParaRPr lang="en-GB" dirty="0"/>
          </a:p>
          <a:p>
            <a:r>
              <a:rPr lang="en-GB" dirty="0"/>
              <a:t>•Add 1–2 distractor options that do not match any picture.</a:t>
            </a:r>
          </a:p>
          <a:p>
            <a:r>
              <a:rPr lang="en-GB" dirty="0"/>
              <a:t>•Remove </a:t>
            </a:r>
            <a:r>
              <a:rPr lang="en-GB" b="1" dirty="0" err="1"/>
              <a:t>मी</a:t>
            </a:r>
            <a:r>
              <a:rPr lang="en-GB" dirty="0"/>
              <a:t> as an option.</a:t>
            </a:r>
          </a:p>
          <a:p>
            <a:r>
              <a:rPr lang="en-GB" dirty="0"/>
              <a:t>•Do not show complete words before the child answers.</a:t>
            </a:r>
          </a:p>
          <a:p>
            <a:r>
              <a:rPr lang="en-GB" b="1" dirty="0"/>
              <a:t>VO</a:t>
            </a:r>
            <a:endParaRPr lang="en-GB" dirty="0"/>
          </a:p>
          <a:p>
            <a:r>
              <a:rPr lang="en-GB" dirty="0"/>
              <a:t>Intro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अक्षर</a:t>
            </a:r>
            <a:r>
              <a:rPr lang="en-GB" b="1" dirty="0"/>
              <a:t> </a:t>
            </a:r>
            <a:r>
              <a:rPr lang="hi-IN" b="1" dirty="0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Optional word support VO when a card is tapped:</a:t>
            </a:r>
          </a:p>
          <a:p>
            <a:r>
              <a:rPr lang="en-GB" dirty="0"/>
              <a:t>•</a:t>
            </a:r>
            <a:r>
              <a:rPr lang="en-GB" b="1" dirty="0"/>
              <a:t>“</a:t>
            </a:r>
            <a:r>
              <a:rPr lang="en-GB" b="1" dirty="0" err="1"/>
              <a:t>पु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/>
              <a:t>“</a:t>
            </a:r>
            <a:r>
              <a:rPr lang="en-GB" b="1" dirty="0" err="1"/>
              <a:t>फू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/>
              <a:t>“</a:t>
            </a:r>
            <a:r>
              <a:rPr lang="en-GB" b="1" dirty="0" err="1"/>
              <a:t>सु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dirty="0"/>
              <a:t>This will help the child connect the picture, sound, and correct word formation.</a:t>
            </a:r>
          </a:p>
          <a:p>
            <a:r>
              <a:rPr lang="en-GB" b="1" dirty="0"/>
              <a:t>Drag and Drop Logic</a:t>
            </a:r>
            <a:endParaRPr lang="en-GB" dirty="0"/>
          </a:p>
          <a:p>
            <a:r>
              <a:rPr lang="en-GB" dirty="0"/>
              <a:t>•Child drags the correct </a:t>
            </a:r>
            <a:r>
              <a:rPr lang="en-GB" dirty="0" err="1"/>
              <a:t>अक्षर</a:t>
            </a:r>
            <a:r>
              <a:rPr lang="en-GB" dirty="0"/>
              <a:t> option into the blank space.</a:t>
            </a:r>
          </a:p>
          <a:p>
            <a:r>
              <a:rPr lang="en-GB" dirty="0"/>
              <a:t>•Correct combinations:</a:t>
            </a:r>
          </a:p>
          <a:p>
            <a:r>
              <a:rPr lang="en-GB" dirty="0"/>
              <a:t>•</a:t>
            </a:r>
            <a:r>
              <a:rPr lang="en-GB" b="1" dirty="0" err="1"/>
              <a:t>पु</a:t>
            </a:r>
            <a:r>
              <a:rPr lang="en-GB" b="1" dirty="0"/>
              <a:t> + ल = </a:t>
            </a:r>
            <a:r>
              <a:rPr lang="en-GB" b="1" dirty="0" err="1"/>
              <a:t>पुल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 err="1"/>
              <a:t>फू</a:t>
            </a:r>
            <a:r>
              <a:rPr lang="en-GB" b="1" dirty="0"/>
              <a:t> + ल = </a:t>
            </a:r>
            <a:r>
              <a:rPr lang="en-GB" b="1" dirty="0" err="1"/>
              <a:t>फूल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 err="1"/>
              <a:t>सु</a:t>
            </a:r>
            <a:r>
              <a:rPr lang="en-GB" b="1" dirty="0"/>
              <a:t> + ई = </a:t>
            </a:r>
            <a:r>
              <a:rPr lang="en-GB" b="1" dirty="0" err="1"/>
              <a:t>सुई</a:t>
            </a:r>
            <a:endParaRPr lang="en-GB" dirty="0"/>
          </a:p>
          <a:p>
            <a:r>
              <a:rPr lang="en-GB" dirty="0"/>
              <a:t>•While dragging, the selected option should slightly enlarge.</a:t>
            </a:r>
          </a:p>
          <a:p>
            <a:r>
              <a:rPr lang="en-GB" dirty="0"/>
              <a:t>•When the option reaches the blank space, the coach gets a soft glow/highlight.</a:t>
            </a:r>
          </a:p>
          <a:p>
            <a:r>
              <a:rPr lang="en-GB" b="1" dirty="0"/>
              <a:t>Correct Answer</a:t>
            </a:r>
            <a:endParaRPr lang="en-GB" dirty="0"/>
          </a:p>
          <a:p>
            <a:r>
              <a:rPr lang="en-GB" dirty="0"/>
              <a:t>When the child drops the correct option:</a:t>
            </a:r>
          </a:p>
          <a:p>
            <a:r>
              <a:rPr lang="en-GB" dirty="0"/>
              <a:t>•Option snaps into the blank space.</a:t>
            </a:r>
          </a:p>
          <a:p>
            <a:r>
              <a:rPr lang="en-GB" dirty="0"/>
              <a:t>•The complete word appears.</a:t>
            </a:r>
          </a:p>
          <a:p>
            <a:r>
              <a:rPr lang="en-GB" dirty="0"/>
              <a:t>•Small </a:t>
            </a:r>
            <a:r>
              <a:rPr lang="en-GB" b="1" dirty="0"/>
              <a:t>sparkle/confetti animation</a:t>
            </a:r>
            <a:r>
              <a:rPr lang="en-GB" dirty="0"/>
              <a:t> appears.</a:t>
            </a:r>
          </a:p>
          <a:p>
            <a:r>
              <a:rPr lang="en-GB" dirty="0"/>
              <a:t>•The completed word becomes locked.</a:t>
            </a:r>
          </a:p>
          <a:p>
            <a:r>
              <a:rPr lang="en-GB" dirty="0"/>
              <a:t>•VO examples:</a:t>
            </a:r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पुल</a:t>
            </a:r>
            <a:r>
              <a:rPr lang="en-GB" b="1" dirty="0"/>
              <a:t> </a:t>
            </a:r>
            <a:r>
              <a:rPr lang="en-GB" b="1" dirty="0" err="1"/>
              <a:t>बन</a:t>
            </a:r>
            <a:r>
              <a:rPr lang="en-GB" b="1" dirty="0"/>
              <a:t> </a:t>
            </a:r>
            <a:r>
              <a:rPr lang="en-GB" b="1" dirty="0" err="1"/>
              <a:t>गया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फूल</a:t>
            </a:r>
            <a:r>
              <a:rPr lang="en-GB" b="1" dirty="0"/>
              <a:t> </a:t>
            </a:r>
            <a:r>
              <a:rPr lang="en-GB" b="1" dirty="0" err="1"/>
              <a:t>बन</a:t>
            </a:r>
            <a:r>
              <a:rPr lang="en-GB" b="1" dirty="0"/>
              <a:t> </a:t>
            </a:r>
            <a:r>
              <a:rPr lang="en-GB" b="1" dirty="0" err="1"/>
              <a:t>गया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सुई</a:t>
            </a:r>
            <a:r>
              <a:rPr lang="en-GB" b="1" dirty="0"/>
              <a:t> </a:t>
            </a:r>
            <a:r>
              <a:rPr lang="en-GB" b="1" dirty="0" err="1"/>
              <a:t>बन</a:t>
            </a:r>
            <a:r>
              <a:rPr lang="en-GB" b="1" dirty="0"/>
              <a:t> </a:t>
            </a:r>
            <a:r>
              <a:rPr lang="en-GB" b="1" dirty="0" err="1"/>
              <a:t>गई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1st Wrong Attempt</a:t>
            </a:r>
            <a:endParaRPr lang="en-GB" dirty="0"/>
          </a:p>
          <a:p>
            <a:r>
              <a:rPr lang="en-GB" dirty="0"/>
              <a:t>•Wrong coach/blank area gives a short </a:t>
            </a:r>
            <a:r>
              <a:rPr lang="en-GB" b="1" dirty="0"/>
              <a:t>shake animation</a:t>
            </a:r>
            <a:r>
              <a:rPr lang="en-GB" dirty="0"/>
              <a:t>.</a:t>
            </a:r>
          </a:p>
          <a:p>
            <a:r>
              <a:rPr lang="en-GB" dirty="0"/>
              <a:t>•Option returns smoothly to its original position.</a:t>
            </a:r>
          </a:p>
          <a:p>
            <a:r>
              <a:rPr lang="en-GB" dirty="0"/>
              <a:t>•No hand nudge.</a:t>
            </a:r>
          </a:p>
          <a:p>
            <a:r>
              <a:rPr lang="en-GB" dirty="0"/>
              <a:t>•Only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सोचिए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ध्यान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2nd Wrong Attempt</a:t>
            </a:r>
            <a:endParaRPr lang="en-GB" dirty="0"/>
          </a:p>
          <a:p>
            <a:r>
              <a:rPr lang="en-GB" dirty="0"/>
              <a:t>•Wrong area shakes again.</a:t>
            </a:r>
          </a:p>
          <a:p>
            <a:r>
              <a:rPr lang="en-GB" dirty="0"/>
              <a:t>•Option returns to its original position.</a:t>
            </a:r>
          </a:p>
          <a:p>
            <a:r>
              <a:rPr lang="en-GB" dirty="0"/>
              <a:t>•VO:</a:t>
            </a:r>
          </a:p>
          <a:p>
            <a:r>
              <a:rPr lang="en-GB" b="1" dirty="0"/>
              <a:t>“</a:t>
            </a:r>
            <a:r>
              <a:rPr lang="en-GB" b="1" dirty="0" err="1"/>
              <a:t>ध्यान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, </a:t>
            </a:r>
            <a:r>
              <a:rPr lang="en-GB" b="1" dirty="0" err="1"/>
              <a:t>कौन-सा</a:t>
            </a:r>
            <a:r>
              <a:rPr lang="en-GB" b="1" dirty="0"/>
              <a:t> </a:t>
            </a:r>
            <a:r>
              <a:rPr lang="en-GB" b="1" dirty="0" err="1"/>
              <a:t>अक्षर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होगा</a:t>
            </a:r>
            <a:r>
              <a:rPr lang="en-GB" b="1" dirty="0"/>
              <a:t>?”</a:t>
            </a:r>
            <a:endParaRPr lang="en-GB" dirty="0"/>
          </a:p>
          <a:p>
            <a:r>
              <a:rPr lang="en-GB" dirty="0"/>
              <a:t>•Show </a:t>
            </a:r>
            <a:r>
              <a:rPr lang="en-GB" b="1" dirty="0"/>
              <a:t>hand nudge on the correct blank space</a:t>
            </a:r>
            <a:r>
              <a:rPr lang="en-GB" dirty="0"/>
              <a:t>.</a:t>
            </a:r>
          </a:p>
          <a:p>
            <a:r>
              <a:rPr lang="en-GB" dirty="0"/>
              <a:t>•Correct blank area gives a soft pulse/glow.</a:t>
            </a:r>
          </a:p>
          <a:p>
            <a:r>
              <a:rPr lang="en-GB" b="1" dirty="0"/>
              <a:t>Correct Answer on 3rd Attempt</a:t>
            </a:r>
            <a:endParaRPr lang="en-GB" dirty="0"/>
          </a:p>
          <a:p>
            <a:r>
              <a:rPr lang="en-GB" dirty="0"/>
              <a:t>•Correct option snaps into place.</a:t>
            </a:r>
          </a:p>
          <a:p>
            <a:r>
              <a:rPr lang="en-GB" dirty="0"/>
              <a:t>•Word completes.</a:t>
            </a:r>
          </a:p>
          <a:p>
            <a:r>
              <a:rPr lang="en-GB" dirty="0"/>
              <a:t>•Small confetti/sparkle animation appears.</a:t>
            </a:r>
          </a:p>
          <a:p>
            <a:r>
              <a:rPr lang="en-GB" dirty="0"/>
              <a:t>•</a:t>
            </a:r>
            <a:r>
              <a:rPr lang="en-GB" b="1" dirty="0"/>
              <a:t>No VO required.</a:t>
            </a:r>
            <a:endParaRPr lang="en-GB" dirty="0"/>
          </a:p>
          <a:p>
            <a:r>
              <a:rPr lang="en-GB" b="1" dirty="0"/>
              <a:t>Completion</a:t>
            </a:r>
            <a:endParaRPr lang="en-GB" dirty="0"/>
          </a:p>
          <a:p>
            <a:r>
              <a:rPr lang="en-GB" dirty="0"/>
              <a:t>When all three words are completed:</a:t>
            </a:r>
          </a:p>
          <a:p>
            <a:r>
              <a:rPr lang="en-GB" dirty="0"/>
              <a:t>•All three coaches glow softly.</a:t>
            </a:r>
          </a:p>
          <a:p>
            <a:r>
              <a:rPr lang="en-GB" dirty="0"/>
              <a:t>•Train gives a small whistle/steam animation.</a:t>
            </a:r>
          </a:p>
          <a:p>
            <a:r>
              <a:rPr lang="en-GB" dirty="0"/>
              <a:t>•</a:t>
            </a:r>
            <a:r>
              <a:rPr lang="en-GB" b="1" dirty="0"/>
              <a:t>Next button becomes active.</a:t>
            </a:r>
            <a:endParaRPr lang="en-GB" dirty="0"/>
          </a:p>
          <a:p>
            <a:r>
              <a:rPr lang="en-GB" dirty="0"/>
              <a:t>•No extra completion VO required.</a:t>
            </a:r>
          </a:p>
          <a:p>
            <a:r>
              <a:rPr lang="en-GB" b="1" dirty="0"/>
              <a:t>Animation</a:t>
            </a:r>
            <a:endParaRPr lang="en-GB" dirty="0"/>
          </a:p>
          <a:p>
            <a:r>
              <a:rPr lang="en-GB" dirty="0"/>
              <a:t>•Train enters </a:t>
            </a:r>
            <a:r>
              <a:rPr lang="en-GB" b="1" dirty="0"/>
              <a:t>from right to left</a:t>
            </a:r>
            <a:r>
              <a:rPr lang="en-GB" dirty="0"/>
              <a:t> and stops at the centre.</a:t>
            </a:r>
          </a:p>
          <a:p>
            <a:r>
              <a:rPr lang="en-GB" dirty="0"/>
              <a:t>•Picture cards appear first.</a:t>
            </a:r>
          </a:p>
          <a:p>
            <a:r>
              <a:rPr lang="en-GB" dirty="0"/>
              <a:t>•Incomplete words appear inside the coaches.</a:t>
            </a:r>
          </a:p>
          <a:p>
            <a:r>
              <a:rPr lang="en-GB" dirty="0"/>
              <a:t>•Options slide up from the bottom.</a:t>
            </a:r>
          </a:p>
          <a:p>
            <a:r>
              <a:rPr lang="en-GB" dirty="0"/>
              <a:t>•Keep animations subtle and child-friendly.</a:t>
            </a:r>
          </a:p>
          <a:p>
            <a:r>
              <a:rPr lang="en-GB" b="1" dirty="0"/>
              <a:t>SFX</a:t>
            </a:r>
            <a:endParaRPr lang="en-GB" dirty="0"/>
          </a:p>
          <a:p>
            <a:r>
              <a:rPr lang="en-GB" dirty="0"/>
              <a:t>•Soft train arrival/whistle sound.</a:t>
            </a:r>
          </a:p>
          <a:p>
            <a:r>
              <a:rPr lang="en-GB" dirty="0"/>
              <a:t>•Light tap sound when an option is selected.</a:t>
            </a:r>
          </a:p>
          <a:p>
            <a:r>
              <a:rPr lang="en-GB" dirty="0"/>
              <a:t>•Soft drag/drop sound.</a:t>
            </a:r>
          </a:p>
          <a:p>
            <a:r>
              <a:rPr lang="en-GB" dirty="0"/>
              <a:t>•Soft shake/error sound on wrong attempt.</a:t>
            </a:r>
          </a:p>
          <a:p>
            <a:r>
              <a:rPr lang="en-GB" dirty="0"/>
              <a:t>•Light success chime on correct completion.</a:t>
            </a:r>
          </a:p>
          <a:p>
            <a:r>
              <a:rPr lang="en-GB" b="1" dirty="0"/>
              <a:t>Developer Note</a:t>
            </a:r>
            <a:endParaRPr lang="en-GB" dirty="0"/>
          </a:p>
          <a:p>
            <a:r>
              <a:rPr lang="en-GB" dirty="0"/>
              <a:t>•Keep the existing train UI/UX style unchanged.</a:t>
            </a:r>
          </a:p>
          <a:p>
            <a:r>
              <a:rPr lang="en-GB" dirty="0"/>
              <a:t>•Do not show complete words initially.</a:t>
            </a:r>
          </a:p>
          <a:p>
            <a:r>
              <a:rPr lang="en-GB" dirty="0"/>
              <a:t>•Keep the activity </a:t>
            </a:r>
            <a:r>
              <a:rPr lang="en-GB" b="1" dirty="0"/>
              <a:t>VO-led</a:t>
            </a:r>
            <a:r>
              <a:rPr lang="en-GB" dirty="0"/>
              <a:t>.</a:t>
            </a:r>
          </a:p>
          <a:p>
            <a:r>
              <a:rPr lang="en-GB" dirty="0"/>
              <a:t>•Focus on connecting:</a:t>
            </a:r>
          </a:p>
          <a:p>
            <a:r>
              <a:rPr lang="en-GB" b="1" dirty="0"/>
              <a:t>Picture → Sound → Correct </a:t>
            </a:r>
            <a:r>
              <a:rPr lang="en-GB" b="1" dirty="0" err="1"/>
              <a:t>अक्षर</a:t>
            </a:r>
            <a:r>
              <a:rPr lang="en-GB" b="1" dirty="0"/>
              <a:t> → Complete Word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422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Activity Concept</a:t>
            </a:r>
            <a:endParaRPr lang="en-GB" dirty="0"/>
          </a:p>
          <a:p>
            <a:r>
              <a:rPr lang="en-GB" dirty="0"/>
              <a:t>•Show a train with </a:t>
            </a:r>
            <a:r>
              <a:rPr lang="en-GB" b="1" dirty="0"/>
              <a:t>two coaches</a:t>
            </a:r>
            <a:r>
              <a:rPr lang="en-GB" dirty="0"/>
              <a:t>.</a:t>
            </a:r>
          </a:p>
          <a:p>
            <a:r>
              <a:rPr lang="en-GB" dirty="0"/>
              <a:t>•Each coach represents one </a:t>
            </a:r>
            <a:r>
              <a:rPr lang="en-GB" dirty="0" err="1"/>
              <a:t>matra</a:t>
            </a:r>
            <a:r>
              <a:rPr lang="en-GB" dirty="0"/>
              <a:t> category:</a:t>
            </a:r>
          </a:p>
          <a:p>
            <a:r>
              <a:rPr lang="en-GB" dirty="0"/>
              <a:t>•</a:t>
            </a:r>
            <a:r>
              <a:rPr lang="en-GB" b="1" dirty="0"/>
              <a:t>उ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/>
              <a:t>ऊ</a:t>
            </a:r>
            <a:endParaRPr lang="en-GB" dirty="0"/>
          </a:p>
          <a:p>
            <a:r>
              <a:rPr lang="en-GB" dirty="0"/>
              <a:t>•Do not show </a:t>
            </a:r>
            <a:r>
              <a:rPr lang="en-GB" b="1" dirty="0" err="1"/>
              <a:t>छोटी</a:t>
            </a:r>
            <a:r>
              <a:rPr lang="en-GB" b="1" dirty="0"/>
              <a:t> / </a:t>
            </a:r>
            <a:r>
              <a:rPr lang="en-GB" b="1" dirty="0" err="1"/>
              <a:t>बड़ी</a:t>
            </a:r>
            <a:r>
              <a:rPr lang="en-GB" dirty="0"/>
              <a:t> or </a:t>
            </a:r>
            <a:r>
              <a:rPr lang="en-GB" dirty="0" err="1"/>
              <a:t>matra</a:t>
            </a:r>
            <a:r>
              <a:rPr lang="en-GB" dirty="0"/>
              <a:t> symbols in the coach labels.</a:t>
            </a:r>
          </a:p>
          <a:p>
            <a:r>
              <a:rPr lang="en-GB" dirty="0"/>
              <a:t>•The </a:t>
            </a:r>
            <a:r>
              <a:rPr lang="en-GB" b="1" dirty="0"/>
              <a:t>inside area of each coach remains empty</a:t>
            </a:r>
            <a:r>
              <a:rPr lang="en-GB" dirty="0"/>
              <a:t> as the drop zone.</a:t>
            </a:r>
          </a:p>
          <a:p>
            <a:r>
              <a:rPr lang="en-GB" dirty="0"/>
              <a:t>•At the bottom, show </a:t>
            </a:r>
            <a:r>
              <a:rPr lang="en-GB" b="1" dirty="0"/>
              <a:t>pictures only</a:t>
            </a:r>
            <a:r>
              <a:rPr lang="en-GB" dirty="0"/>
              <a:t>.</a:t>
            </a:r>
          </a:p>
          <a:p>
            <a:r>
              <a:rPr lang="en-GB" dirty="0"/>
              <a:t>•Do not show any word text below the pictures.</a:t>
            </a:r>
          </a:p>
          <a:p>
            <a:r>
              <a:rPr lang="en-GB" b="1" dirty="0"/>
              <a:t>On Screen</a:t>
            </a:r>
            <a:endParaRPr lang="en-GB" dirty="0"/>
          </a:p>
          <a:p>
            <a:r>
              <a:rPr lang="en-GB" dirty="0"/>
              <a:t>•Above the first coach: </a:t>
            </a:r>
            <a:r>
              <a:rPr lang="en-GB" b="1" dirty="0"/>
              <a:t>उ</a:t>
            </a:r>
            <a:endParaRPr lang="en-GB" dirty="0"/>
          </a:p>
          <a:p>
            <a:r>
              <a:rPr lang="en-GB" dirty="0"/>
              <a:t>•Above the second coach: </a:t>
            </a:r>
            <a:r>
              <a:rPr lang="en-GB" b="1" dirty="0"/>
              <a:t>ऊ</a:t>
            </a:r>
            <a:endParaRPr lang="en-GB" dirty="0"/>
          </a:p>
          <a:p>
            <a:r>
              <a:rPr lang="en-GB" dirty="0"/>
              <a:t>•Bottom section: picture cards only.</a:t>
            </a:r>
          </a:p>
          <a:p>
            <a:r>
              <a:rPr lang="en-GB" dirty="0"/>
              <a:t>Use the current picture set:</a:t>
            </a:r>
          </a:p>
          <a:p>
            <a:r>
              <a:rPr lang="en-GB" dirty="0"/>
              <a:t>•</a:t>
            </a:r>
            <a:r>
              <a:rPr lang="en-GB" b="1" dirty="0" err="1"/>
              <a:t>मुकुट</a:t>
            </a:r>
            <a:r>
              <a:rPr lang="en-GB" dirty="0"/>
              <a:t> → उ</a:t>
            </a:r>
          </a:p>
          <a:p>
            <a:r>
              <a:rPr lang="en-GB" dirty="0"/>
              <a:t>•</a:t>
            </a:r>
            <a:r>
              <a:rPr lang="en-GB" b="1" dirty="0" err="1"/>
              <a:t>पुल</a:t>
            </a:r>
            <a:r>
              <a:rPr lang="en-GB" dirty="0"/>
              <a:t> → उ</a:t>
            </a:r>
          </a:p>
          <a:p>
            <a:r>
              <a:rPr lang="en-GB" dirty="0"/>
              <a:t>•</a:t>
            </a:r>
            <a:r>
              <a:rPr lang="en-GB" b="1" dirty="0" err="1"/>
              <a:t>तरबूज</a:t>
            </a:r>
            <a:r>
              <a:rPr lang="en-GB" dirty="0"/>
              <a:t> → ऊ</a:t>
            </a:r>
          </a:p>
          <a:p>
            <a:r>
              <a:rPr lang="en-GB" dirty="0"/>
              <a:t>•</a:t>
            </a:r>
            <a:r>
              <a:rPr lang="en-GB" b="1" dirty="0" err="1"/>
              <a:t>कबूतर</a:t>
            </a:r>
            <a:r>
              <a:rPr lang="en-GB" dirty="0"/>
              <a:t> → ऊ</a:t>
            </a:r>
          </a:p>
          <a:p>
            <a:r>
              <a:rPr lang="en-GB" dirty="0"/>
              <a:t>•Keep all four pictures visually clear and easy to identify.</a:t>
            </a:r>
          </a:p>
          <a:p>
            <a:r>
              <a:rPr lang="en-GB" b="1" dirty="0"/>
              <a:t>VO</a:t>
            </a:r>
            <a:endParaRPr lang="en-GB" dirty="0"/>
          </a:p>
          <a:p>
            <a:r>
              <a:rPr lang="en-GB" dirty="0"/>
              <a:t>Intro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उसे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वाली</a:t>
            </a:r>
            <a:r>
              <a:rPr lang="en-GB" b="1" dirty="0"/>
              <a:t> </a:t>
            </a:r>
            <a:r>
              <a:rPr lang="en-GB" b="1" dirty="0" err="1"/>
              <a:t>बोगी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When the child taps or starts dragging a picture, play only that picture’s name:</a:t>
            </a:r>
          </a:p>
          <a:p>
            <a:r>
              <a:rPr lang="en-GB" b="1" dirty="0"/>
              <a:t>“</a:t>
            </a:r>
            <a:r>
              <a:rPr lang="en-GB" b="1" dirty="0" err="1"/>
              <a:t>मुकुट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तरबूज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कबूतर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पुल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dirty="0"/>
              <a:t>This makes the child </a:t>
            </a:r>
            <a:r>
              <a:rPr lang="en-GB" b="1" dirty="0"/>
              <a:t>listen to the word</a:t>
            </a:r>
            <a:r>
              <a:rPr lang="en-GB" dirty="0"/>
              <a:t>, identify whether it contains </a:t>
            </a:r>
            <a:r>
              <a:rPr lang="en-GB" b="1" dirty="0"/>
              <a:t>उ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 or </a:t>
            </a:r>
            <a:r>
              <a:rPr lang="en-GB" b="1" dirty="0"/>
              <a:t>ऊ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, and then sort the picture.</a:t>
            </a:r>
          </a:p>
          <a:p>
            <a:r>
              <a:rPr lang="en-GB" b="1" dirty="0"/>
              <a:t>Drag and Drop Logic</a:t>
            </a:r>
            <a:endParaRPr lang="en-GB" dirty="0"/>
          </a:p>
          <a:p>
            <a:r>
              <a:rPr lang="en-GB" dirty="0"/>
              <a:t>•The child drags the </a:t>
            </a:r>
            <a:r>
              <a:rPr lang="en-GB" b="1" dirty="0"/>
              <a:t>picture card</a:t>
            </a:r>
            <a:r>
              <a:rPr lang="en-GB" dirty="0"/>
              <a:t> into the correct coach.</a:t>
            </a:r>
          </a:p>
          <a:p>
            <a:r>
              <a:rPr lang="en-GB" dirty="0"/>
              <a:t>•One coach can accept multiple pictures belonging to the same </a:t>
            </a:r>
            <a:r>
              <a:rPr lang="en-GB" dirty="0" err="1"/>
              <a:t>matra</a:t>
            </a:r>
            <a:r>
              <a:rPr lang="en-GB" dirty="0"/>
              <a:t> category.</a:t>
            </a:r>
          </a:p>
          <a:p>
            <a:r>
              <a:rPr lang="en-GB" dirty="0"/>
              <a:t>•The word should </a:t>
            </a:r>
            <a:r>
              <a:rPr lang="en-GB" b="1" dirty="0"/>
              <a:t>not be displayed at any point during the question</a:t>
            </a:r>
            <a:r>
              <a:rPr lang="en-GB" dirty="0"/>
              <a:t>.</a:t>
            </a:r>
          </a:p>
          <a:p>
            <a:r>
              <a:rPr lang="en-GB" dirty="0"/>
              <a:t>•While dragging, the selected picture card can slightly enlarge.</a:t>
            </a:r>
          </a:p>
          <a:p>
            <a:r>
              <a:rPr lang="en-GB" dirty="0"/>
              <a:t>•When the picture reaches a coach, that coach can get a soft </a:t>
            </a:r>
            <a:r>
              <a:rPr lang="en-GB" b="1" dirty="0"/>
              <a:t>glow / highlight</a:t>
            </a:r>
            <a:r>
              <a:rPr lang="en-GB" dirty="0"/>
              <a:t>.</a:t>
            </a:r>
          </a:p>
          <a:p>
            <a:r>
              <a:rPr lang="en-GB" b="1" dirty="0"/>
              <a:t>Correct Mapping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 err="1"/>
              <a:t>मुकुट</a:t>
            </a:r>
            <a:r>
              <a:rPr lang="en-GB" b="1" dirty="0"/>
              <a:t> → उ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 err="1"/>
              <a:t>पुल</a:t>
            </a:r>
            <a:r>
              <a:rPr lang="en-GB" b="1" dirty="0"/>
              <a:t> → उ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 err="1"/>
              <a:t>तरबूज</a:t>
            </a:r>
            <a:r>
              <a:rPr lang="en-GB" b="1" dirty="0"/>
              <a:t> → ऊ</a:t>
            </a:r>
            <a:endParaRPr lang="en-GB" dirty="0"/>
          </a:p>
          <a:p>
            <a:r>
              <a:rPr lang="en-GB" dirty="0"/>
              <a:t>•</a:t>
            </a:r>
            <a:r>
              <a:rPr lang="en-GB" b="1" dirty="0" err="1"/>
              <a:t>कबूतर</a:t>
            </a:r>
            <a:r>
              <a:rPr lang="en-GB" b="1" dirty="0"/>
              <a:t> → ऊ</a:t>
            </a:r>
            <a:endParaRPr lang="en-GB" dirty="0"/>
          </a:p>
          <a:p>
            <a:r>
              <a:rPr lang="en-GB" b="1" dirty="0"/>
              <a:t>Correct Answer</a:t>
            </a:r>
            <a:endParaRPr lang="en-GB" dirty="0"/>
          </a:p>
          <a:p>
            <a:r>
              <a:rPr lang="en-GB" dirty="0"/>
              <a:t>•Picture snaps inside the correct coach.</a:t>
            </a:r>
          </a:p>
          <a:p>
            <a:r>
              <a:rPr lang="en-GB" dirty="0"/>
              <a:t>•Small </a:t>
            </a:r>
            <a:r>
              <a:rPr lang="en-GB" b="1" dirty="0"/>
              <a:t>sparkle / confetti effect</a:t>
            </a:r>
            <a:r>
              <a:rPr lang="en-GB" dirty="0"/>
              <a:t> appears around that coach.</a:t>
            </a:r>
          </a:p>
          <a:p>
            <a:r>
              <a:rPr lang="en-GB" dirty="0"/>
              <a:t>•The correctly placed picture becomes locked.</a:t>
            </a:r>
          </a:p>
          <a:p>
            <a:r>
              <a:rPr lang="en-GB" dirty="0"/>
              <a:t>•VO examples:</a:t>
            </a:r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मुकुट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उ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पुल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उ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तरबूज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ऊ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कबूतर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ऊ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1st Wrong Attempt</a:t>
            </a:r>
            <a:endParaRPr lang="en-GB" dirty="0"/>
          </a:p>
          <a:p>
            <a:r>
              <a:rPr lang="en-GB" dirty="0"/>
              <a:t>•Wrong coach gives a short </a:t>
            </a:r>
            <a:r>
              <a:rPr lang="en-GB" b="1" dirty="0"/>
              <a:t>wiggle / shake animation</a:t>
            </a:r>
            <a:r>
              <a:rPr lang="en-GB" dirty="0"/>
              <a:t>.</a:t>
            </a:r>
          </a:p>
          <a:p>
            <a:r>
              <a:rPr lang="en-GB" dirty="0"/>
              <a:t>•Picture returns smoothly to its original position.</a:t>
            </a:r>
          </a:p>
          <a:p>
            <a:r>
              <a:rPr lang="en-GB" dirty="0"/>
              <a:t>•No hand nudge.</a:t>
            </a:r>
          </a:p>
          <a:p>
            <a:r>
              <a:rPr lang="en-GB" dirty="0"/>
              <a:t>•Only hint VO should play.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पहचानिए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2nd Wrong Attempt</a:t>
            </a:r>
            <a:endParaRPr lang="en-GB" dirty="0"/>
          </a:p>
          <a:p>
            <a:r>
              <a:rPr lang="en-GB" dirty="0"/>
              <a:t>•Wrong coach shakes again.</a:t>
            </a:r>
          </a:p>
          <a:p>
            <a:r>
              <a:rPr lang="en-GB" dirty="0"/>
              <a:t>•Picture returns to the bottom.</a:t>
            </a:r>
          </a:p>
          <a:p>
            <a:r>
              <a:rPr lang="en-GB" dirty="0"/>
              <a:t>•Hint VO should play.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ध्यान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a </a:t>
            </a:r>
            <a:r>
              <a:rPr lang="en-GB" b="1" dirty="0"/>
              <a:t>hand nudge / soft pulse on the correct coach</a:t>
            </a:r>
            <a:r>
              <a:rPr lang="en-GB" dirty="0"/>
              <a:t>.</a:t>
            </a:r>
          </a:p>
          <a:p>
            <a:r>
              <a:rPr lang="en-GB" dirty="0"/>
              <a:t>•The correct coach can also briefly glow.</a:t>
            </a:r>
          </a:p>
          <a:p>
            <a:r>
              <a:rPr lang="en-GB" b="1" dirty="0"/>
              <a:t>Correct Answer on 3rd Attempt</a:t>
            </a:r>
            <a:endParaRPr lang="en-GB" dirty="0"/>
          </a:p>
          <a:p>
            <a:r>
              <a:rPr lang="en-GB" dirty="0"/>
              <a:t>•Picture snaps into the correct coach.</a:t>
            </a:r>
          </a:p>
          <a:p>
            <a:r>
              <a:rPr lang="en-GB" dirty="0"/>
              <a:t>•Small </a:t>
            </a:r>
            <a:r>
              <a:rPr lang="en-GB" b="1" dirty="0"/>
              <a:t>confetti / sparkle effect</a:t>
            </a:r>
            <a:r>
              <a:rPr lang="en-GB" dirty="0"/>
              <a:t> appears.</a:t>
            </a:r>
          </a:p>
          <a:p>
            <a:r>
              <a:rPr lang="en-GB" dirty="0"/>
              <a:t>•Picture becomes locked.</a:t>
            </a:r>
          </a:p>
          <a:p>
            <a:r>
              <a:rPr lang="en-GB" dirty="0"/>
              <a:t>•</a:t>
            </a:r>
            <a:r>
              <a:rPr lang="en-GB" b="1" dirty="0"/>
              <a:t>No VO required.</a:t>
            </a:r>
            <a:endParaRPr lang="en-GB" dirty="0"/>
          </a:p>
          <a:p>
            <a:r>
              <a:rPr lang="en-GB" b="1" dirty="0"/>
              <a:t>Completion</a:t>
            </a:r>
            <a:endParaRPr lang="en-GB" dirty="0"/>
          </a:p>
          <a:p>
            <a:r>
              <a:rPr lang="en-GB" dirty="0"/>
              <a:t>Once all four pictures are correctly sorted:</a:t>
            </a:r>
          </a:p>
          <a:p>
            <a:r>
              <a:rPr lang="en-GB" dirty="0"/>
              <a:t>•Both coaches glow briefly.</a:t>
            </a:r>
          </a:p>
          <a:p>
            <a:r>
              <a:rPr lang="en-GB" dirty="0"/>
              <a:t>•Train gives a small </a:t>
            </a:r>
            <a:r>
              <a:rPr lang="en-GB" b="1" dirty="0"/>
              <a:t>whistle / steam animation</a:t>
            </a:r>
            <a:r>
              <a:rPr lang="en-GB" dirty="0"/>
              <a:t>.</a:t>
            </a:r>
          </a:p>
          <a:p>
            <a:r>
              <a:rPr lang="en-GB" dirty="0"/>
              <a:t>•</a:t>
            </a:r>
            <a:r>
              <a:rPr lang="en-GB" b="1" dirty="0"/>
              <a:t>Next button becomes active</a:t>
            </a:r>
            <a:r>
              <a:rPr lang="en-GB" dirty="0"/>
              <a:t>.</a:t>
            </a:r>
          </a:p>
          <a:p>
            <a:r>
              <a:rPr lang="en-GB" dirty="0"/>
              <a:t>•No extra completion VO required.</a:t>
            </a:r>
          </a:p>
          <a:p>
            <a:r>
              <a:rPr lang="en-GB" b="1" dirty="0"/>
              <a:t>Animation</a:t>
            </a:r>
            <a:endParaRPr lang="en-GB" dirty="0"/>
          </a:p>
          <a:p>
            <a:r>
              <a:rPr lang="en-GB" dirty="0"/>
              <a:t>•Train enters </a:t>
            </a:r>
            <a:r>
              <a:rPr lang="en-GB" b="1" dirty="0"/>
              <a:t>from right to left</a:t>
            </a:r>
            <a:r>
              <a:rPr lang="en-GB" dirty="0"/>
              <a:t> and stops at the centre.</a:t>
            </a:r>
          </a:p>
          <a:p>
            <a:r>
              <a:rPr lang="en-GB" dirty="0"/>
              <a:t>•Coach labels </a:t>
            </a:r>
            <a:r>
              <a:rPr lang="en-GB" b="1" dirty="0"/>
              <a:t>उ</a:t>
            </a:r>
            <a:r>
              <a:rPr lang="en-GB" dirty="0"/>
              <a:t> and </a:t>
            </a:r>
            <a:r>
              <a:rPr lang="en-GB" b="1" dirty="0"/>
              <a:t>ऊ</a:t>
            </a:r>
            <a:r>
              <a:rPr lang="en-GB" dirty="0"/>
              <a:t> appear one by one.</a:t>
            </a:r>
          </a:p>
          <a:p>
            <a:r>
              <a:rPr lang="en-GB" dirty="0"/>
              <a:t>•Picture cards fade / slide up from the bottom.</a:t>
            </a:r>
          </a:p>
          <a:p>
            <a:r>
              <a:rPr lang="en-GB" dirty="0"/>
              <a:t>•Keep animations subtle and child-friendly.</a:t>
            </a:r>
          </a:p>
          <a:p>
            <a:r>
              <a:rPr lang="en-GB" b="1" dirty="0"/>
              <a:t>SFX</a:t>
            </a:r>
            <a:endParaRPr lang="en-GB" dirty="0"/>
          </a:p>
          <a:p>
            <a:r>
              <a:rPr lang="en-GB" dirty="0"/>
              <a:t>•Soft </a:t>
            </a:r>
            <a:r>
              <a:rPr lang="en-GB" b="1" dirty="0"/>
              <a:t>train arrival / whistle SFX</a:t>
            </a:r>
            <a:r>
              <a:rPr lang="en-GB" dirty="0"/>
              <a:t>.</a:t>
            </a:r>
          </a:p>
          <a:p>
            <a:r>
              <a:rPr lang="en-GB" dirty="0"/>
              <a:t>•Light </a:t>
            </a:r>
            <a:r>
              <a:rPr lang="en-GB" b="1" dirty="0"/>
              <a:t>tap / pick-up sound</a:t>
            </a:r>
            <a:r>
              <a:rPr lang="en-GB" dirty="0"/>
              <a:t> when a picture is selected.</a:t>
            </a:r>
          </a:p>
          <a:p>
            <a:r>
              <a:rPr lang="en-GB" dirty="0"/>
              <a:t>•Soft </a:t>
            </a:r>
            <a:r>
              <a:rPr lang="en-GB" b="1" dirty="0"/>
              <a:t>drop sound</a:t>
            </a:r>
            <a:r>
              <a:rPr lang="en-GB" dirty="0"/>
              <a:t> when the picture is placed.</a:t>
            </a:r>
          </a:p>
          <a:p>
            <a:r>
              <a:rPr lang="en-GB" dirty="0"/>
              <a:t>•Soft </a:t>
            </a:r>
            <a:r>
              <a:rPr lang="en-GB" b="1" dirty="0"/>
              <a:t>error / shake sound</a:t>
            </a:r>
            <a:r>
              <a:rPr lang="en-GB" dirty="0"/>
              <a:t> on a wrong attempt.</a:t>
            </a:r>
          </a:p>
          <a:p>
            <a:r>
              <a:rPr lang="en-GB" dirty="0"/>
              <a:t>•Light </a:t>
            </a:r>
            <a:r>
              <a:rPr lang="en-GB" b="1" dirty="0"/>
              <a:t>success chime</a:t>
            </a:r>
            <a:r>
              <a:rPr lang="en-GB" dirty="0"/>
              <a:t> on correct placement.</a:t>
            </a:r>
          </a:p>
          <a:p>
            <a:r>
              <a:rPr lang="en-GB" b="1" dirty="0"/>
              <a:t>Next Button</a:t>
            </a:r>
            <a:endParaRPr lang="en-GB" dirty="0"/>
          </a:p>
          <a:p>
            <a:r>
              <a:rPr lang="en-GB" dirty="0"/>
              <a:t>•Keep the </a:t>
            </a:r>
            <a:r>
              <a:rPr lang="en-GB" b="1" dirty="0"/>
              <a:t>Next</a:t>
            </a:r>
            <a:r>
              <a:rPr lang="en-GB" dirty="0"/>
              <a:t> button disabled initially.</a:t>
            </a:r>
          </a:p>
          <a:p>
            <a:r>
              <a:rPr lang="en-GB" dirty="0"/>
              <a:t>•Activate it only after </a:t>
            </a:r>
            <a:r>
              <a:rPr lang="en-GB" b="1" dirty="0"/>
              <a:t>all four pictures</a:t>
            </a:r>
            <a:r>
              <a:rPr lang="en-GB" dirty="0"/>
              <a:t> are sorted correctly.</a:t>
            </a:r>
          </a:p>
          <a:p>
            <a:r>
              <a:rPr lang="en-GB" b="1" dirty="0"/>
              <a:t>Developer Note</a:t>
            </a:r>
            <a:endParaRPr lang="en-GB" dirty="0"/>
          </a:p>
          <a:p>
            <a:r>
              <a:rPr lang="en-GB" dirty="0"/>
              <a:t>•Keep the existing </a:t>
            </a:r>
            <a:r>
              <a:rPr lang="en-GB" b="1" dirty="0"/>
              <a:t>train UI/UX style unchanged</a:t>
            </a:r>
            <a:r>
              <a:rPr lang="en-GB" dirty="0"/>
              <a:t>.</a:t>
            </a:r>
          </a:p>
          <a:p>
            <a:r>
              <a:rPr lang="en-GB" dirty="0"/>
              <a:t>•Coach labels should show only </a:t>
            </a:r>
            <a:r>
              <a:rPr lang="en-GB" b="1" dirty="0"/>
              <a:t>उ</a:t>
            </a:r>
            <a:r>
              <a:rPr lang="en-GB" dirty="0"/>
              <a:t> and </a:t>
            </a:r>
            <a:r>
              <a:rPr lang="en-GB" b="1" dirty="0"/>
              <a:t>ऊ</a:t>
            </a:r>
            <a:r>
              <a:rPr lang="en-GB" dirty="0"/>
              <a:t>.</a:t>
            </a:r>
          </a:p>
          <a:p>
            <a:r>
              <a:rPr lang="en-GB" dirty="0"/>
              <a:t>•Do not show </a:t>
            </a:r>
            <a:r>
              <a:rPr lang="en-GB" b="1" dirty="0" err="1"/>
              <a:t>छोटी</a:t>
            </a:r>
            <a:r>
              <a:rPr lang="en-GB" b="1" dirty="0"/>
              <a:t> / </a:t>
            </a:r>
            <a:r>
              <a:rPr lang="en-GB" b="1" dirty="0" err="1"/>
              <a:t>बड़ी</a:t>
            </a:r>
            <a:r>
              <a:rPr lang="en-GB" dirty="0"/>
              <a:t>, </a:t>
            </a:r>
            <a:r>
              <a:rPr lang="en-GB" b="1" dirty="0"/>
              <a:t>ु / ू</a:t>
            </a:r>
            <a:r>
              <a:rPr lang="en-GB" dirty="0"/>
              <a:t>, or the picture names on screen.</a:t>
            </a:r>
          </a:p>
          <a:p>
            <a:r>
              <a:rPr lang="en-GB" dirty="0"/>
              <a:t>•The activity should remain </a:t>
            </a:r>
            <a:r>
              <a:rPr lang="en-GB" b="1" dirty="0"/>
              <a:t>VO-led</a:t>
            </a:r>
            <a:r>
              <a:rPr lang="en-GB" dirty="0"/>
              <a:t>, so the child has to listen to the picture name and identify the correct </a:t>
            </a:r>
            <a:r>
              <a:rPr lang="en-GB" dirty="0" err="1"/>
              <a:t>matra</a:t>
            </a:r>
            <a:r>
              <a:rPr lang="en-GB" dirty="0"/>
              <a:t> category.</a:t>
            </a:r>
          </a:p>
          <a:p>
            <a:r>
              <a:rPr lang="en-GB" dirty="0"/>
              <a:t>•Use respectful language throughout: </a:t>
            </a:r>
            <a:r>
              <a:rPr lang="en-GB" b="1" dirty="0" err="1"/>
              <a:t>सुनिए</a:t>
            </a:r>
            <a:r>
              <a:rPr lang="en-GB" b="1" dirty="0"/>
              <a:t>, </a:t>
            </a:r>
            <a:r>
              <a:rPr lang="en-GB" b="1" dirty="0" err="1"/>
              <a:t>पहचानिए</a:t>
            </a:r>
            <a:r>
              <a:rPr lang="en-GB" b="1" dirty="0"/>
              <a:t>, </a:t>
            </a:r>
            <a:r>
              <a:rPr lang="en-GB" b="1" dirty="0" err="1"/>
              <a:t>डालिए</a:t>
            </a:r>
            <a:r>
              <a:rPr lang="en-GB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9839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Activity Concept</a:t>
            </a:r>
            <a:endParaRPr lang="en-GB" dirty="0"/>
          </a:p>
          <a:p>
            <a:r>
              <a:rPr lang="en-GB" dirty="0"/>
              <a:t>•This activity will be a </a:t>
            </a:r>
            <a:r>
              <a:rPr lang="en-GB" b="1" dirty="0"/>
              <a:t>sentence completion activity</a:t>
            </a:r>
            <a:r>
              <a:rPr lang="en-GB" dirty="0"/>
              <a:t>.</a:t>
            </a:r>
          </a:p>
          <a:p>
            <a:r>
              <a:rPr lang="en-GB" dirty="0"/>
              <a:t>•The child will look at the picture, understand the situation, read/listen to the sentence, and select the correct word to complete the sentence.</a:t>
            </a:r>
          </a:p>
          <a:p>
            <a:r>
              <a:rPr lang="en-GB" dirty="0"/>
              <a:t>•The focus should be on helping the child understand how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dirty="0"/>
              <a:t> are used in meaningful sentences.</a:t>
            </a:r>
          </a:p>
          <a:p>
            <a:r>
              <a:rPr lang="en-GB" b="1" dirty="0"/>
              <a:t>On Screen</a:t>
            </a:r>
            <a:endParaRPr lang="en-GB" dirty="0"/>
          </a:p>
          <a:p>
            <a:r>
              <a:rPr lang="en-GB" dirty="0"/>
              <a:t>•Keep the heading at the top:</a:t>
            </a:r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one picture-based sentence activity at a time.</a:t>
            </a:r>
          </a:p>
          <a:p>
            <a:r>
              <a:rPr lang="en-GB" dirty="0"/>
              <a:t>•Keep the main picture on one side and the sentence completion area on the other side.</a:t>
            </a:r>
          </a:p>
          <a:p>
            <a:r>
              <a:rPr lang="en-GB" dirty="0"/>
              <a:t>•Sentence:</a:t>
            </a:r>
          </a:p>
          <a:p>
            <a:r>
              <a:rPr lang="en-GB" b="1" dirty="0"/>
              <a:t>“</a:t>
            </a:r>
            <a:r>
              <a:rPr lang="en-GB" b="1" dirty="0" err="1"/>
              <a:t>सीमा</a:t>
            </a:r>
            <a:r>
              <a:rPr lang="en-GB" b="1" dirty="0"/>
              <a:t> </a:t>
            </a:r>
            <a:r>
              <a:rPr lang="en-GB" b="1" dirty="0" err="1"/>
              <a:t>आज</a:t>
            </a:r>
            <a:r>
              <a:rPr lang="en-GB" b="1" dirty="0"/>
              <a:t> </a:t>
            </a:r>
            <a:r>
              <a:rPr lang="en-GB" b="1" dirty="0" err="1"/>
              <a:t>बहुत</a:t>
            </a:r>
            <a:r>
              <a:rPr lang="en-GB" b="1" dirty="0"/>
              <a:t> ______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a blank space for the missing word.</a:t>
            </a:r>
          </a:p>
          <a:p>
            <a:r>
              <a:rPr lang="en-GB" dirty="0"/>
              <a:t>•Below the sentence, show three picture options:</a:t>
            </a:r>
          </a:p>
          <a:p>
            <a:r>
              <a:rPr lang="en-GB" dirty="0"/>
              <a:t>•😊 </a:t>
            </a:r>
            <a:r>
              <a:rPr lang="en-GB" b="1" dirty="0" err="1"/>
              <a:t>खुश</a:t>
            </a:r>
            <a:r>
              <a:rPr lang="en-GB" dirty="0"/>
              <a:t> ✅</a:t>
            </a:r>
          </a:p>
          <a:p>
            <a:r>
              <a:rPr lang="en-GB" dirty="0"/>
              <a:t>•🌸 </a:t>
            </a:r>
            <a:r>
              <a:rPr lang="en-GB" b="1" dirty="0" err="1"/>
              <a:t>फूल</a:t>
            </a:r>
            <a:endParaRPr lang="en-GB" dirty="0"/>
          </a:p>
          <a:p>
            <a:r>
              <a:rPr lang="en-GB" dirty="0"/>
              <a:t>•🍉 </a:t>
            </a:r>
            <a:r>
              <a:rPr lang="en-GB" b="1" dirty="0" err="1"/>
              <a:t>तरबूज</a:t>
            </a:r>
            <a:endParaRPr lang="en-GB" dirty="0"/>
          </a:p>
          <a:p>
            <a:r>
              <a:rPr lang="en-GB" dirty="0"/>
              <a:t>•Do not highlight the correct option before the child answers.</a:t>
            </a:r>
          </a:p>
          <a:p>
            <a:r>
              <a:rPr lang="en-GB" b="1" dirty="0"/>
              <a:t>VO</a:t>
            </a:r>
            <a:endParaRPr lang="en-GB" dirty="0"/>
          </a:p>
          <a:p>
            <a:r>
              <a:rPr lang="en-GB" dirty="0"/>
              <a:t>Instruction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When an option is tapped, play the word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खुश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फूल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तरबूज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dirty="0"/>
              <a:t>This will encourage the child to listen to the word and connect it with the sentence meaning.</a:t>
            </a:r>
          </a:p>
          <a:p>
            <a:r>
              <a:rPr lang="en-GB" b="1" dirty="0"/>
              <a:t>Correct Answer</a:t>
            </a:r>
            <a:endParaRPr lang="en-GB" dirty="0"/>
          </a:p>
          <a:p>
            <a:r>
              <a:rPr lang="en-GB" dirty="0"/>
              <a:t>Correct answer:</a:t>
            </a:r>
          </a:p>
          <a:p>
            <a:r>
              <a:rPr lang="en-GB" b="1" dirty="0" err="1"/>
              <a:t>खुश</a:t>
            </a:r>
            <a:endParaRPr lang="en-GB" dirty="0"/>
          </a:p>
          <a:p>
            <a:r>
              <a:rPr lang="en-GB" dirty="0"/>
              <a:t>When the child selects the correct option:</a:t>
            </a:r>
          </a:p>
          <a:p>
            <a:r>
              <a:rPr lang="en-GB" dirty="0"/>
              <a:t>•The option card snaps into the blank space.</a:t>
            </a:r>
          </a:p>
          <a:p>
            <a:r>
              <a:rPr lang="en-GB" dirty="0"/>
              <a:t>•The sentence becomes complete:</a:t>
            </a:r>
          </a:p>
          <a:p>
            <a:r>
              <a:rPr lang="en-GB" b="1" dirty="0"/>
              <a:t>“</a:t>
            </a:r>
            <a:r>
              <a:rPr lang="en-GB" b="1" dirty="0" err="1"/>
              <a:t>सीमा</a:t>
            </a:r>
            <a:r>
              <a:rPr lang="en-GB" b="1" dirty="0"/>
              <a:t> </a:t>
            </a:r>
            <a:r>
              <a:rPr lang="en-GB" b="1" dirty="0" err="1"/>
              <a:t>आज</a:t>
            </a:r>
            <a:r>
              <a:rPr lang="en-GB" b="1" dirty="0"/>
              <a:t> </a:t>
            </a:r>
            <a:r>
              <a:rPr lang="en-GB" b="1" dirty="0" err="1"/>
              <a:t>बहुत</a:t>
            </a:r>
            <a:r>
              <a:rPr lang="en-GB" b="1" dirty="0"/>
              <a:t> </a:t>
            </a:r>
            <a:r>
              <a:rPr lang="en-GB" b="1" dirty="0" err="1"/>
              <a:t>खुश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small </a:t>
            </a:r>
            <a:r>
              <a:rPr lang="en-GB" b="1" dirty="0"/>
              <a:t>sparkle/confetti animation</a:t>
            </a:r>
            <a:r>
              <a:rPr lang="en-GB" dirty="0"/>
              <a:t>.</a:t>
            </a:r>
          </a:p>
          <a:p>
            <a:r>
              <a:rPr lang="en-GB" dirty="0"/>
              <a:t>•Correct option gets a soft glow/highlight.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सीमा</a:t>
            </a:r>
            <a:r>
              <a:rPr lang="en-GB" b="1" dirty="0"/>
              <a:t> </a:t>
            </a:r>
            <a:r>
              <a:rPr lang="en-GB" b="1" dirty="0" err="1"/>
              <a:t>आज</a:t>
            </a:r>
            <a:r>
              <a:rPr lang="en-GB" b="1" dirty="0"/>
              <a:t> </a:t>
            </a:r>
            <a:r>
              <a:rPr lang="en-GB" b="1" dirty="0" err="1"/>
              <a:t>बहुत</a:t>
            </a:r>
            <a:r>
              <a:rPr lang="en-GB" b="1" dirty="0"/>
              <a:t> </a:t>
            </a:r>
            <a:r>
              <a:rPr lang="en-GB" b="1" dirty="0" err="1"/>
              <a:t>खुश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1st Wrong Attempt</a:t>
            </a:r>
            <a:endParaRPr lang="en-GB" dirty="0"/>
          </a:p>
          <a:p>
            <a:r>
              <a:rPr lang="en-GB" dirty="0"/>
              <a:t>•Wrong option card gives a short </a:t>
            </a:r>
            <a:r>
              <a:rPr lang="en-GB" b="1" dirty="0"/>
              <a:t>shake/wiggle animation</a:t>
            </a:r>
            <a:r>
              <a:rPr lang="en-GB" dirty="0"/>
              <a:t>.</a:t>
            </a:r>
          </a:p>
          <a:p>
            <a:r>
              <a:rPr lang="en-GB" dirty="0"/>
              <a:t>•Option returns to its original position.</a:t>
            </a:r>
          </a:p>
          <a:p>
            <a:r>
              <a:rPr lang="en-GB" dirty="0"/>
              <a:t>•No hand nudge.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सोचिए</a:t>
            </a:r>
            <a:r>
              <a:rPr lang="en-GB" b="1" dirty="0"/>
              <a:t>। </a:t>
            </a:r>
            <a:r>
              <a:rPr lang="en-GB" b="1" dirty="0" err="1"/>
              <a:t>कौन-सा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करेगा</a:t>
            </a:r>
            <a:r>
              <a:rPr lang="en-GB" b="1" dirty="0"/>
              <a:t>?”</a:t>
            </a:r>
            <a:endParaRPr lang="en-GB" dirty="0"/>
          </a:p>
          <a:p>
            <a:r>
              <a:rPr lang="en-GB" b="1" dirty="0"/>
              <a:t>On 2nd Wrong Attempt</a:t>
            </a:r>
            <a:endParaRPr lang="en-GB" dirty="0"/>
          </a:p>
          <a:p>
            <a:r>
              <a:rPr lang="en-GB" dirty="0"/>
              <a:t>•Wrong option shakes again.</a:t>
            </a:r>
          </a:p>
          <a:p>
            <a:r>
              <a:rPr lang="en-GB" dirty="0"/>
              <a:t>•Option returns to its original position.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ध्यान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</a:t>
            </a:r>
            <a:r>
              <a:rPr lang="en-GB" b="1" dirty="0"/>
              <a:t>hand nudge on the correct option (</a:t>
            </a:r>
            <a:r>
              <a:rPr lang="en-GB" b="1" dirty="0" err="1"/>
              <a:t>खुश</a:t>
            </a:r>
            <a:r>
              <a:rPr lang="en-GB" b="1" dirty="0"/>
              <a:t>)</a:t>
            </a:r>
            <a:r>
              <a:rPr lang="en-GB" dirty="0"/>
              <a:t>.</a:t>
            </a:r>
          </a:p>
          <a:p>
            <a:r>
              <a:rPr lang="en-GB" dirty="0"/>
              <a:t>•Correct option gives a soft pulse/glow.</a:t>
            </a:r>
          </a:p>
          <a:p>
            <a:r>
              <a:rPr lang="en-GB" b="1" dirty="0"/>
              <a:t>Correct Answer on 3rd Attempt</a:t>
            </a:r>
            <a:endParaRPr lang="en-GB" dirty="0"/>
          </a:p>
          <a:p>
            <a:r>
              <a:rPr lang="en-GB" dirty="0"/>
              <a:t>•Correct option snaps into the sentence.</a:t>
            </a:r>
          </a:p>
          <a:p>
            <a:r>
              <a:rPr lang="en-GB" dirty="0"/>
              <a:t>•Sentence completes.</a:t>
            </a:r>
          </a:p>
          <a:p>
            <a:r>
              <a:rPr lang="en-GB" dirty="0"/>
              <a:t>•Small sparkle/confetti appears.</a:t>
            </a:r>
          </a:p>
          <a:p>
            <a:r>
              <a:rPr lang="en-GB" dirty="0"/>
              <a:t>•</a:t>
            </a:r>
            <a:r>
              <a:rPr lang="en-GB" b="1" dirty="0"/>
              <a:t>No additional VO required.</a:t>
            </a:r>
            <a:endParaRPr lang="en-GB" dirty="0"/>
          </a:p>
          <a:p>
            <a:r>
              <a:rPr lang="en-GB" b="1" dirty="0"/>
              <a:t>Completion</a:t>
            </a:r>
            <a:endParaRPr lang="en-GB" dirty="0"/>
          </a:p>
          <a:p>
            <a:r>
              <a:rPr lang="en-GB" dirty="0"/>
              <a:t>After the correct answer:</a:t>
            </a:r>
          </a:p>
          <a:p>
            <a:r>
              <a:rPr lang="en-GB" dirty="0"/>
              <a:t>•Next button becomes active.</a:t>
            </a:r>
          </a:p>
          <a:p>
            <a:r>
              <a:rPr lang="en-GB" dirty="0"/>
              <a:t>•No extra completion VO required.</a:t>
            </a:r>
          </a:p>
          <a:p>
            <a:r>
              <a:rPr lang="en-GB" b="1" dirty="0"/>
              <a:t>Animation</a:t>
            </a:r>
            <a:endParaRPr lang="en-GB" dirty="0"/>
          </a:p>
          <a:p>
            <a:r>
              <a:rPr lang="en-GB" dirty="0"/>
              <a:t>•Picture appears first.</a:t>
            </a:r>
          </a:p>
          <a:p>
            <a:r>
              <a:rPr lang="en-GB" dirty="0"/>
              <a:t>•Sentence box appears with the blank space.</a:t>
            </a:r>
          </a:p>
          <a:p>
            <a:r>
              <a:rPr lang="en-GB" dirty="0"/>
              <a:t>•Options slide/fade in one by one.</a:t>
            </a:r>
          </a:p>
          <a:p>
            <a:r>
              <a:rPr lang="en-GB" dirty="0"/>
              <a:t>•Keep animation subtle and child-friendly.</a:t>
            </a:r>
          </a:p>
          <a:p>
            <a:r>
              <a:rPr lang="en-GB" dirty="0"/>
              <a:t>•Do not overload the screen with too many moving elements.</a:t>
            </a:r>
          </a:p>
          <a:p>
            <a:r>
              <a:rPr lang="en-GB" b="1" dirty="0"/>
              <a:t>SFX</a:t>
            </a:r>
            <a:endParaRPr lang="en-GB" dirty="0"/>
          </a:p>
          <a:p>
            <a:r>
              <a:rPr lang="en-GB" dirty="0"/>
              <a:t>•Soft pop sound when picture/sentence appears.</a:t>
            </a:r>
          </a:p>
          <a:p>
            <a:r>
              <a:rPr lang="en-GB" dirty="0"/>
              <a:t>•Light tap sound on option selection.</a:t>
            </a:r>
          </a:p>
          <a:p>
            <a:r>
              <a:rPr lang="en-GB" dirty="0"/>
              <a:t>•Soft shake/error sound on wrong attempt.</a:t>
            </a:r>
          </a:p>
          <a:p>
            <a:r>
              <a:rPr lang="en-GB" dirty="0"/>
              <a:t>•Light success chime on correct answer.</a:t>
            </a:r>
          </a:p>
          <a:p>
            <a:r>
              <a:rPr lang="en-GB" b="1" dirty="0"/>
              <a:t>Developer Note</a:t>
            </a:r>
            <a:endParaRPr lang="en-GB" dirty="0"/>
          </a:p>
          <a:p>
            <a:r>
              <a:rPr lang="en-GB" dirty="0"/>
              <a:t>•Keep the activity </a:t>
            </a:r>
            <a:r>
              <a:rPr lang="en-GB" b="1" dirty="0"/>
              <a:t>VO-led</a:t>
            </a:r>
            <a:r>
              <a:rPr lang="en-GB" dirty="0"/>
              <a:t>.</a:t>
            </a:r>
          </a:p>
          <a:p>
            <a:r>
              <a:rPr lang="en-GB" dirty="0"/>
              <a:t>•Do not show extra text explanations.</a:t>
            </a:r>
          </a:p>
          <a:p>
            <a:r>
              <a:rPr lang="en-GB" dirty="0"/>
              <a:t>•The child should learn through:</a:t>
            </a:r>
          </a:p>
          <a:p>
            <a:r>
              <a:rPr lang="en-GB" b="1" dirty="0"/>
              <a:t>Picture → Sentence meaning → Correct word selection</a:t>
            </a:r>
            <a:endParaRPr lang="en-GB" dirty="0"/>
          </a:p>
          <a:p>
            <a:r>
              <a:rPr lang="en-GB" dirty="0"/>
              <a:t>•Keep the options visually supported with pictures so the child can independently understand the word.</a:t>
            </a:r>
          </a:p>
          <a:p>
            <a:r>
              <a:rPr lang="en-GB" dirty="0"/>
              <a:t>•Maintain respectful language: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सोचिए</a:t>
            </a:r>
            <a:r>
              <a:rPr lang="en-GB" b="1" dirty="0"/>
              <a:t>, </a:t>
            </a:r>
            <a:r>
              <a:rPr lang="en-GB" b="1" dirty="0" err="1"/>
              <a:t>देखिए</a:t>
            </a:r>
            <a:r>
              <a:rPr lang="en-GB" b="1" dirty="0"/>
              <a:t>, </a:t>
            </a:r>
            <a:r>
              <a:rPr lang="en-GB" b="1" dirty="0" err="1"/>
              <a:t>चुनिए</a:t>
            </a:r>
            <a:r>
              <a:rPr lang="en-GB" b="1" dirty="0"/>
              <a:t>”</a:t>
            </a:r>
            <a:r>
              <a:rPr lang="en-GB" dirty="0"/>
              <a:t> instead of </a:t>
            </a:r>
            <a:r>
              <a:rPr lang="en-GB" b="1" dirty="0"/>
              <a:t>“</a:t>
            </a:r>
            <a:r>
              <a:rPr lang="en-GB" b="1" dirty="0" err="1"/>
              <a:t>सोचो</a:t>
            </a:r>
            <a:r>
              <a:rPr lang="en-GB" b="1" dirty="0"/>
              <a:t>, </a:t>
            </a:r>
            <a:r>
              <a:rPr lang="en-GB" b="1" dirty="0" err="1"/>
              <a:t>देखो</a:t>
            </a:r>
            <a:r>
              <a:rPr lang="en-GB" b="1" dirty="0"/>
              <a:t>, </a:t>
            </a:r>
            <a:r>
              <a:rPr lang="en-GB" b="1" dirty="0" err="1"/>
              <a:t>चुनो</a:t>
            </a:r>
            <a:r>
              <a:rPr lang="en-GB" b="1" dirty="0"/>
              <a:t>”</a:t>
            </a:r>
            <a:r>
              <a:rPr lang="en-GB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570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Activity Concept</a:t>
            </a:r>
            <a:endParaRPr lang="en-GB" dirty="0"/>
          </a:p>
          <a:p>
            <a:r>
              <a:rPr lang="en-GB" dirty="0"/>
              <a:t>•This activity will be a </a:t>
            </a:r>
            <a:r>
              <a:rPr lang="en-GB" b="1" dirty="0"/>
              <a:t>sentence completion activity</a:t>
            </a:r>
            <a:r>
              <a:rPr lang="en-GB" dirty="0"/>
              <a:t>.</a:t>
            </a:r>
          </a:p>
          <a:p>
            <a:r>
              <a:rPr lang="en-GB" dirty="0"/>
              <a:t>•The child will look at the picture, understand the situation, read/listen to the sentence, and select the correct word to complete the sentence.</a:t>
            </a:r>
          </a:p>
          <a:p>
            <a:r>
              <a:rPr lang="en-GB" dirty="0"/>
              <a:t>•The focus should be on helping the child identify and use </a:t>
            </a:r>
            <a:r>
              <a:rPr lang="en-GB" b="1" dirty="0"/>
              <a:t>ऊ (ू)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dirty="0"/>
              <a:t> in meaningful sentences.</a:t>
            </a:r>
          </a:p>
          <a:p>
            <a:r>
              <a:rPr lang="en-GB" b="1" dirty="0"/>
              <a:t>On Screen</a:t>
            </a:r>
            <a:endParaRPr lang="en-GB" dirty="0"/>
          </a:p>
          <a:p>
            <a:r>
              <a:rPr lang="en-GB" dirty="0"/>
              <a:t>•Keep the heading at the top:</a:t>
            </a:r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one picture-based sentence activity at a time.</a:t>
            </a:r>
          </a:p>
          <a:p>
            <a:r>
              <a:rPr lang="en-GB" dirty="0"/>
              <a:t>•Keep the main picture on one side and the sentence completion area on the other side.</a:t>
            </a:r>
          </a:p>
          <a:p>
            <a:r>
              <a:rPr lang="en-GB" dirty="0"/>
              <a:t>•Sentence:</a:t>
            </a:r>
          </a:p>
          <a:p>
            <a:r>
              <a:rPr lang="en-GB" b="1" dirty="0"/>
              <a:t>“</a:t>
            </a:r>
            <a:r>
              <a:rPr lang="en-GB" b="1" dirty="0" err="1"/>
              <a:t>मैं</a:t>
            </a:r>
            <a:r>
              <a:rPr lang="en-GB" b="1" dirty="0"/>
              <a:t> ______ </a:t>
            </a:r>
            <a:r>
              <a:rPr lang="en-GB" b="1" dirty="0" err="1"/>
              <a:t>जल्दी</a:t>
            </a:r>
            <a:r>
              <a:rPr lang="en-GB" b="1" dirty="0"/>
              <a:t> </a:t>
            </a:r>
            <a:r>
              <a:rPr lang="en-GB" b="1" dirty="0" err="1"/>
              <a:t>उठता</a:t>
            </a:r>
            <a:r>
              <a:rPr lang="en-GB" b="1" dirty="0"/>
              <a:t> </a:t>
            </a:r>
            <a:r>
              <a:rPr lang="en-GB" b="1" dirty="0" err="1"/>
              <a:t>हूँ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a blank space for the missing word.</a:t>
            </a:r>
          </a:p>
          <a:p>
            <a:r>
              <a:rPr lang="en-GB" dirty="0"/>
              <a:t>•Below the sentence, show three picture options:</a:t>
            </a:r>
          </a:p>
          <a:p>
            <a:r>
              <a:rPr lang="en-GB" dirty="0"/>
              <a:t>•🌅 </a:t>
            </a:r>
            <a:r>
              <a:rPr lang="en-GB" b="1" dirty="0" err="1"/>
              <a:t>सुबह</a:t>
            </a:r>
            <a:r>
              <a:rPr lang="en-GB" dirty="0"/>
              <a:t> ✅</a:t>
            </a:r>
          </a:p>
          <a:p>
            <a:r>
              <a:rPr lang="en-GB" dirty="0"/>
              <a:t>•🥛 </a:t>
            </a:r>
            <a:r>
              <a:rPr lang="en-GB" b="1" dirty="0" err="1"/>
              <a:t>दूध</a:t>
            </a:r>
            <a:endParaRPr lang="en-GB" dirty="0"/>
          </a:p>
          <a:p>
            <a:r>
              <a:rPr lang="en-GB" dirty="0"/>
              <a:t>•👑 </a:t>
            </a:r>
            <a:r>
              <a:rPr lang="en-GB" b="1" dirty="0" err="1"/>
              <a:t>मुकुट</a:t>
            </a:r>
            <a:endParaRPr lang="en-GB" dirty="0"/>
          </a:p>
          <a:p>
            <a:r>
              <a:rPr lang="en-GB" dirty="0"/>
              <a:t>•Do not highlight the correct option before the child answers.</a:t>
            </a:r>
          </a:p>
          <a:p>
            <a:r>
              <a:rPr lang="en-GB" b="1" dirty="0"/>
              <a:t>VO</a:t>
            </a:r>
            <a:endParaRPr lang="en-GB" dirty="0"/>
          </a:p>
          <a:p>
            <a:r>
              <a:rPr lang="en-GB" dirty="0"/>
              <a:t>Instruction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When an option is tapped, play the word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सुबह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दूध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मुकुट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dirty="0"/>
              <a:t>This will help the child listen to the word and connect it with the sentence meaning.</a:t>
            </a:r>
          </a:p>
          <a:p>
            <a:r>
              <a:rPr lang="en-GB" b="1" dirty="0"/>
              <a:t>Correct Answer</a:t>
            </a:r>
            <a:endParaRPr lang="en-GB" dirty="0"/>
          </a:p>
          <a:p>
            <a:r>
              <a:rPr lang="en-GB" dirty="0"/>
              <a:t>Correct answer:</a:t>
            </a:r>
          </a:p>
          <a:p>
            <a:r>
              <a:rPr lang="en-GB" b="1" dirty="0" err="1"/>
              <a:t>सुबह</a:t>
            </a:r>
            <a:endParaRPr lang="en-GB" dirty="0"/>
          </a:p>
          <a:p>
            <a:r>
              <a:rPr lang="en-GB" dirty="0"/>
              <a:t>When the child selects the correct option:</a:t>
            </a:r>
          </a:p>
          <a:p>
            <a:r>
              <a:rPr lang="en-GB" dirty="0"/>
              <a:t>•The option card snaps into the blank space.</a:t>
            </a:r>
          </a:p>
          <a:p>
            <a:r>
              <a:rPr lang="en-GB" dirty="0"/>
              <a:t>•The sentence becomes complete:</a:t>
            </a:r>
          </a:p>
          <a:p>
            <a:r>
              <a:rPr lang="en-GB" b="1" dirty="0"/>
              <a:t>“</a:t>
            </a:r>
            <a:r>
              <a:rPr lang="en-GB" b="1" dirty="0" err="1"/>
              <a:t>मैं</a:t>
            </a:r>
            <a:r>
              <a:rPr lang="en-GB" b="1" dirty="0"/>
              <a:t> </a:t>
            </a:r>
            <a:r>
              <a:rPr lang="en-GB" b="1" dirty="0" err="1"/>
              <a:t>सुबह</a:t>
            </a:r>
            <a:r>
              <a:rPr lang="en-GB" b="1" dirty="0"/>
              <a:t> </a:t>
            </a:r>
            <a:r>
              <a:rPr lang="en-GB" b="1" dirty="0" err="1"/>
              <a:t>जल्दी</a:t>
            </a:r>
            <a:r>
              <a:rPr lang="en-GB" b="1" dirty="0"/>
              <a:t> </a:t>
            </a:r>
            <a:r>
              <a:rPr lang="en-GB" b="1" dirty="0" err="1"/>
              <a:t>उठता</a:t>
            </a:r>
            <a:r>
              <a:rPr lang="en-GB" b="1" dirty="0"/>
              <a:t> </a:t>
            </a:r>
            <a:r>
              <a:rPr lang="en-GB" b="1" dirty="0" err="1"/>
              <a:t>हूँ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small </a:t>
            </a:r>
            <a:r>
              <a:rPr lang="en-GB" b="1" dirty="0"/>
              <a:t>sparkle/confetti animation</a:t>
            </a:r>
            <a:r>
              <a:rPr lang="en-GB" dirty="0"/>
              <a:t>.</a:t>
            </a:r>
          </a:p>
          <a:p>
            <a:r>
              <a:rPr lang="en-GB" dirty="0"/>
              <a:t>•Correct option gets a soft glow/highlight.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मैंने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किया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1st Wrong Attempt</a:t>
            </a:r>
            <a:endParaRPr lang="en-GB" dirty="0"/>
          </a:p>
          <a:p>
            <a:r>
              <a:rPr lang="en-GB" dirty="0"/>
              <a:t>•Wrong option card gives a short </a:t>
            </a:r>
            <a:r>
              <a:rPr lang="en-GB" b="1" dirty="0"/>
              <a:t>shake/wiggle animation</a:t>
            </a:r>
            <a:r>
              <a:rPr lang="en-GB" dirty="0"/>
              <a:t>.</a:t>
            </a:r>
          </a:p>
          <a:p>
            <a:r>
              <a:rPr lang="en-GB" dirty="0"/>
              <a:t>•Option returns to its original position.</a:t>
            </a:r>
          </a:p>
          <a:p>
            <a:r>
              <a:rPr lang="en-GB" dirty="0"/>
              <a:t>•No hand nudge.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सोचिए</a:t>
            </a:r>
            <a:r>
              <a:rPr lang="en-GB" b="1" dirty="0"/>
              <a:t>। </a:t>
            </a:r>
            <a:r>
              <a:rPr lang="en-GB" b="1" dirty="0" err="1"/>
              <a:t>कौन-सा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करेगा</a:t>
            </a:r>
            <a:r>
              <a:rPr lang="en-GB" b="1" dirty="0"/>
              <a:t>?”</a:t>
            </a:r>
            <a:endParaRPr lang="en-GB" dirty="0"/>
          </a:p>
          <a:p>
            <a:r>
              <a:rPr lang="en-GB" b="1" dirty="0"/>
              <a:t>On 2nd Wrong Attempt</a:t>
            </a:r>
            <a:endParaRPr lang="en-GB" dirty="0"/>
          </a:p>
          <a:p>
            <a:r>
              <a:rPr lang="en-GB" dirty="0"/>
              <a:t>•Wrong option shakes again.</a:t>
            </a:r>
          </a:p>
          <a:p>
            <a:r>
              <a:rPr lang="en-GB" dirty="0"/>
              <a:t>•Option returns to its original position.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ध्यान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</a:t>
            </a:r>
            <a:r>
              <a:rPr lang="en-GB" b="1" dirty="0"/>
              <a:t>hand nudge on the correct option (</a:t>
            </a:r>
            <a:r>
              <a:rPr lang="en-GB" b="1" dirty="0" err="1"/>
              <a:t>सुबह</a:t>
            </a:r>
            <a:r>
              <a:rPr lang="en-GB" b="1" dirty="0"/>
              <a:t>)</a:t>
            </a:r>
            <a:r>
              <a:rPr lang="en-GB" dirty="0"/>
              <a:t>.</a:t>
            </a:r>
          </a:p>
          <a:p>
            <a:r>
              <a:rPr lang="en-GB" dirty="0"/>
              <a:t>•Correct option gives a soft pulse/glow.</a:t>
            </a:r>
          </a:p>
          <a:p>
            <a:r>
              <a:rPr lang="en-GB" b="1" dirty="0"/>
              <a:t>Correct Answer on 3rd Attempt</a:t>
            </a:r>
            <a:endParaRPr lang="en-GB" dirty="0"/>
          </a:p>
          <a:p>
            <a:r>
              <a:rPr lang="en-GB" dirty="0"/>
              <a:t>•Correct option snaps into the sentence.</a:t>
            </a:r>
          </a:p>
          <a:p>
            <a:r>
              <a:rPr lang="en-GB" dirty="0"/>
              <a:t>•Sentence completes.</a:t>
            </a:r>
          </a:p>
          <a:p>
            <a:r>
              <a:rPr lang="en-GB" dirty="0"/>
              <a:t>•Small sparkle/confetti appears.</a:t>
            </a:r>
          </a:p>
          <a:p>
            <a:r>
              <a:rPr lang="en-GB" dirty="0"/>
              <a:t>•</a:t>
            </a:r>
            <a:r>
              <a:rPr lang="en-GB" b="1" dirty="0"/>
              <a:t>No additional VO required.</a:t>
            </a:r>
            <a:endParaRPr lang="en-GB" dirty="0"/>
          </a:p>
          <a:p>
            <a:r>
              <a:rPr lang="en-GB" b="1" dirty="0"/>
              <a:t>Completion</a:t>
            </a:r>
            <a:endParaRPr lang="en-GB" dirty="0"/>
          </a:p>
          <a:p>
            <a:r>
              <a:rPr lang="en-GB" dirty="0"/>
              <a:t>After the correct answer:</a:t>
            </a:r>
          </a:p>
          <a:p>
            <a:r>
              <a:rPr lang="en-GB" dirty="0"/>
              <a:t>•Next button becomes active.</a:t>
            </a:r>
          </a:p>
          <a:p>
            <a:r>
              <a:rPr lang="en-GB" dirty="0"/>
              <a:t>•No extra completion VO required.</a:t>
            </a:r>
          </a:p>
          <a:p>
            <a:r>
              <a:rPr lang="en-GB" b="1" dirty="0"/>
              <a:t>Animation</a:t>
            </a:r>
            <a:endParaRPr lang="en-GB" dirty="0"/>
          </a:p>
          <a:p>
            <a:r>
              <a:rPr lang="en-GB" dirty="0"/>
              <a:t>•Picture appears first.</a:t>
            </a:r>
          </a:p>
          <a:p>
            <a:r>
              <a:rPr lang="en-GB" dirty="0"/>
              <a:t>•Sentence box appears with the blank space.</a:t>
            </a:r>
          </a:p>
          <a:p>
            <a:r>
              <a:rPr lang="en-GB" dirty="0"/>
              <a:t>•Options slide/fade in one by one.</a:t>
            </a:r>
          </a:p>
          <a:p>
            <a:r>
              <a:rPr lang="en-GB" dirty="0"/>
              <a:t>•Keep animation subtle and child-friendly.</a:t>
            </a:r>
          </a:p>
          <a:p>
            <a:r>
              <a:rPr lang="en-GB" dirty="0"/>
              <a:t>•Do not overload the screen with too many moving elements.</a:t>
            </a:r>
          </a:p>
          <a:p>
            <a:r>
              <a:rPr lang="en-GB" b="1" dirty="0"/>
              <a:t>SFX</a:t>
            </a:r>
            <a:endParaRPr lang="en-GB" dirty="0"/>
          </a:p>
          <a:p>
            <a:r>
              <a:rPr lang="en-GB" dirty="0"/>
              <a:t>•Soft pop sound when picture/sentence appears.</a:t>
            </a:r>
          </a:p>
          <a:p>
            <a:r>
              <a:rPr lang="en-GB" dirty="0"/>
              <a:t>•Light tap sound on option selection.</a:t>
            </a:r>
          </a:p>
          <a:p>
            <a:r>
              <a:rPr lang="en-GB" dirty="0"/>
              <a:t>•Soft shake/error sound on wrong attempt.</a:t>
            </a:r>
          </a:p>
          <a:p>
            <a:r>
              <a:rPr lang="en-GB" dirty="0"/>
              <a:t>•Light success chime on correct answer.</a:t>
            </a:r>
          </a:p>
          <a:p>
            <a:r>
              <a:rPr lang="en-GB" b="1" dirty="0"/>
              <a:t>Developer Note</a:t>
            </a:r>
            <a:endParaRPr lang="en-GB" dirty="0"/>
          </a:p>
          <a:p>
            <a:r>
              <a:rPr lang="en-GB" dirty="0"/>
              <a:t>•Keep the activity </a:t>
            </a:r>
            <a:r>
              <a:rPr lang="en-GB" b="1" dirty="0"/>
              <a:t>VO-led</a:t>
            </a:r>
            <a:r>
              <a:rPr lang="en-GB" dirty="0"/>
              <a:t>.</a:t>
            </a:r>
          </a:p>
          <a:p>
            <a:r>
              <a:rPr lang="en-GB" dirty="0"/>
              <a:t>•Do not show extra text explanations.</a:t>
            </a:r>
          </a:p>
          <a:p>
            <a:r>
              <a:rPr lang="en-GB" dirty="0"/>
              <a:t>•The child should learn through:</a:t>
            </a:r>
          </a:p>
          <a:p>
            <a:r>
              <a:rPr lang="en-GB" b="1" dirty="0"/>
              <a:t>Picture → Sentence meaning → Correct word selection</a:t>
            </a:r>
            <a:endParaRPr lang="en-GB" dirty="0"/>
          </a:p>
          <a:p>
            <a:r>
              <a:rPr lang="en-GB" dirty="0"/>
              <a:t>•Keep the options visually supported with pictures so the child can independently understand the word.</a:t>
            </a:r>
          </a:p>
          <a:p>
            <a:r>
              <a:rPr lang="en-GB" dirty="0"/>
              <a:t>•Use respectful language throughout: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सोचिए</a:t>
            </a:r>
            <a:r>
              <a:rPr lang="en-GB" b="1" dirty="0"/>
              <a:t>, </a:t>
            </a:r>
            <a:r>
              <a:rPr lang="en-GB" b="1" dirty="0" err="1"/>
              <a:t>देखिए</a:t>
            </a:r>
            <a:r>
              <a:rPr lang="en-GB" b="1" dirty="0"/>
              <a:t>, </a:t>
            </a:r>
            <a:r>
              <a:rPr lang="en-GB" b="1" dirty="0" err="1"/>
              <a:t>चुनिए</a:t>
            </a:r>
            <a:r>
              <a:rPr lang="en-GB" b="1" dirty="0"/>
              <a:t>”</a:t>
            </a:r>
            <a:r>
              <a:rPr lang="en-GB" dirty="0"/>
              <a:t> instead of </a:t>
            </a:r>
            <a:r>
              <a:rPr lang="en-GB" b="1" dirty="0"/>
              <a:t>“</a:t>
            </a:r>
            <a:r>
              <a:rPr lang="en-GB" b="1" dirty="0" err="1"/>
              <a:t>सोचो</a:t>
            </a:r>
            <a:r>
              <a:rPr lang="en-GB" b="1" dirty="0"/>
              <a:t>, </a:t>
            </a:r>
            <a:r>
              <a:rPr lang="en-GB" b="1" dirty="0" err="1"/>
              <a:t>देखो</a:t>
            </a:r>
            <a:r>
              <a:rPr lang="en-GB" b="1" dirty="0"/>
              <a:t>, </a:t>
            </a:r>
            <a:r>
              <a:rPr lang="en-GB" b="1" dirty="0" err="1"/>
              <a:t>चुनो</a:t>
            </a:r>
            <a:r>
              <a:rPr lang="en-GB" b="1" dirty="0"/>
              <a:t>”</a:t>
            </a:r>
            <a:r>
              <a:rPr lang="en-GB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0662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Activity Concept</a:t>
            </a:r>
            <a:endParaRPr lang="en-GB" dirty="0"/>
          </a:p>
          <a:p>
            <a:r>
              <a:rPr lang="en-GB" dirty="0"/>
              <a:t>•This activity will be a </a:t>
            </a:r>
            <a:r>
              <a:rPr lang="en-GB" b="1" dirty="0"/>
              <a:t>sentence completion activity</a:t>
            </a:r>
            <a:r>
              <a:rPr lang="en-GB" dirty="0"/>
              <a:t>.</a:t>
            </a:r>
          </a:p>
          <a:p>
            <a:r>
              <a:rPr lang="en-GB" dirty="0"/>
              <a:t>•The child will observe the picture, understand the sentence context, and select the correct word to complete the sentence.</a:t>
            </a:r>
          </a:p>
          <a:p>
            <a:r>
              <a:rPr lang="en-GB" dirty="0"/>
              <a:t>•The focus should be on helping the child use </a:t>
            </a:r>
            <a:r>
              <a:rPr lang="en-GB" b="1" dirty="0"/>
              <a:t>ऊ (ू)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dirty="0"/>
              <a:t> in meaningful sentences.</a:t>
            </a:r>
          </a:p>
          <a:p>
            <a:r>
              <a:rPr lang="en-GB" b="1" dirty="0"/>
              <a:t>On Screen</a:t>
            </a:r>
            <a:endParaRPr lang="en-GB" dirty="0"/>
          </a:p>
          <a:p>
            <a:r>
              <a:rPr lang="en-GB" dirty="0"/>
              <a:t>•Keep the heading at the top:</a:t>
            </a:r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one picture-based sentence activity at a time.</a:t>
            </a:r>
          </a:p>
          <a:p>
            <a:r>
              <a:rPr lang="en-GB" dirty="0"/>
              <a:t>•Keep the picture on one side and the sentence completion area on the other side.</a:t>
            </a:r>
          </a:p>
          <a:p>
            <a:r>
              <a:rPr lang="en-GB" dirty="0"/>
              <a:t>•Sentence:</a:t>
            </a:r>
          </a:p>
          <a:p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सुंदर</a:t>
            </a:r>
            <a:r>
              <a:rPr lang="en-GB" b="1" dirty="0"/>
              <a:t> ______ </a:t>
            </a:r>
            <a:r>
              <a:rPr lang="en-GB" b="1" dirty="0" err="1"/>
              <a:t>खिले</a:t>
            </a:r>
            <a:r>
              <a:rPr lang="en-GB" b="1" dirty="0"/>
              <a:t> </a:t>
            </a:r>
            <a:r>
              <a:rPr lang="en-GB" b="1" dirty="0" err="1"/>
              <a:t>हैं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a blank space for the missing word.</a:t>
            </a:r>
          </a:p>
          <a:p>
            <a:r>
              <a:rPr lang="en-GB" dirty="0"/>
              <a:t>•Below the sentence, show three picture options:</a:t>
            </a:r>
          </a:p>
          <a:p>
            <a:r>
              <a:rPr lang="en-GB" dirty="0"/>
              <a:t>•🌸 </a:t>
            </a:r>
            <a:r>
              <a:rPr lang="en-GB" b="1" dirty="0" err="1"/>
              <a:t>फूल</a:t>
            </a:r>
            <a:r>
              <a:rPr lang="en-GB" dirty="0"/>
              <a:t> ✅</a:t>
            </a:r>
          </a:p>
          <a:p>
            <a:r>
              <a:rPr lang="en-GB" dirty="0"/>
              <a:t>•🍉 </a:t>
            </a:r>
            <a:r>
              <a:rPr lang="en-GB" b="1" dirty="0" err="1"/>
              <a:t>तरबूज</a:t>
            </a:r>
            <a:endParaRPr lang="en-GB" dirty="0"/>
          </a:p>
          <a:p>
            <a:r>
              <a:rPr lang="en-GB" dirty="0"/>
              <a:t>•🌅 </a:t>
            </a:r>
            <a:r>
              <a:rPr lang="en-GB" b="1" dirty="0" err="1"/>
              <a:t>सुबह</a:t>
            </a:r>
            <a:endParaRPr lang="en-GB" dirty="0"/>
          </a:p>
          <a:p>
            <a:r>
              <a:rPr lang="en-GB" dirty="0"/>
              <a:t>•Do not highlight the correct option before the child answers.</a:t>
            </a:r>
          </a:p>
          <a:p>
            <a:r>
              <a:rPr lang="en-GB" b="1" dirty="0"/>
              <a:t>VO</a:t>
            </a:r>
            <a:endParaRPr lang="en-GB" dirty="0"/>
          </a:p>
          <a:p>
            <a:r>
              <a:rPr lang="en-GB" dirty="0"/>
              <a:t>Instruction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When an option is tapped, play the word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फूल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तरबूज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सुबह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dirty="0"/>
              <a:t>This will help the child listen to the word, understand the sentence meaning, and identify the correct word.</a:t>
            </a:r>
          </a:p>
          <a:p>
            <a:r>
              <a:rPr lang="en-GB" b="1" dirty="0"/>
              <a:t>Correct Answer</a:t>
            </a:r>
            <a:endParaRPr lang="en-GB" dirty="0"/>
          </a:p>
          <a:p>
            <a:r>
              <a:rPr lang="en-GB" dirty="0"/>
              <a:t>Correct answer:</a:t>
            </a:r>
          </a:p>
          <a:p>
            <a:r>
              <a:rPr lang="en-GB" b="1" dirty="0" err="1"/>
              <a:t>फूल</a:t>
            </a:r>
            <a:endParaRPr lang="en-GB" dirty="0"/>
          </a:p>
          <a:p>
            <a:r>
              <a:rPr lang="en-GB" dirty="0"/>
              <a:t>When the child selects the correct option:</a:t>
            </a:r>
          </a:p>
          <a:p>
            <a:r>
              <a:rPr lang="en-GB" dirty="0"/>
              <a:t>•The option card snaps into the blank space.</a:t>
            </a:r>
          </a:p>
          <a:p>
            <a:r>
              <a:rPr lang="en-GB" dirty="0"/>
              <a:t>•The sentence becomes complete:</a:t>
            </a:r>
          </a:p>
          <a:p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सुंदर</a:t>
            </a:r>
            <a:r>
              <a:rPr lang="en-GB" b="1" dirty="0"/>
              <a:t> </a:t>
            </a:r>
            <a:r>
              <a:rPr lang="en-GB" b="1" dirty="0" err="1"/>
              <a:t>फूल</a:t>
            </a:r>
            <a:r>
              <a:rPr lang="en-GB" b="1" dirty="0"/>
              <a:t> </a:t>
            </a:r>
            <a:r>
              <a:rPr lang="en-GB" b="1" dirty="0" err="1"/>
              <a:t>खिले</a:t>
            </a:r>
            <a:r>
              <a:rPr lang="en-GB" b="1" dirty="0"/>
              <a:t> </a:t>
            </a:r>
            <a:r>
              <a:rPr lang="en-GB" b="1" dirty="0" err="1"/>
              <a:t>हैं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small </a:t>
            </a:r>
            <a:r>
              <a:rPr lang="en-GB" b="1" dirty="0"/>
              <a:t>sparkle/confetti animation</a:t>
            </a:r>
            <a:r>
              <a:rPr lang="en-GB" dirty="0"/>
              <a:t>.</a:t>
            </a:r>
          </a:p>
          <a:p>
            <a:r>
              <a:rPr lang="en-GB" dirty="0"/>
              <a:t>•Correct option gets a soft glow/highlight.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सुंदर</a:t>
            </a:r>
            <a:r>
              <a:rPr lang="en-GB" b="1" dirty="0"/>
              <a:t> </a:t>
            </a:r>
            <a:r>
              <a:rPr lang="en-GB" b="1" dirty="0" err="1"/>
              <a:t>फूल</a:t>
            </a:r>
            <a:r>
              <a:rPr lang="en-GB" b="1" dirty="0"/>
              <a:t> </a:t>
            </a:r>
            <a:r>
              <a:rPr lang="en-GB" b="1" dirty="0" err="1"/>
              <a:t>खिले</a:t>
            </a:r>
            <a:r>
              <a:rPr lang="en-GB" b="1" dirty="0"/>
              <a:t> </a:t>
            </a:r>
            <a:r>
              <a:rPr lang="en-GB" b="1" dirty="0" err="1"/>
              <a:t>हैं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1st Wrong Attempt</a:t>
            </a:r>
            <a:endParaRPr lang="en-GB" dirty="0"/>
          </a:p>
          <a:p>
            <a:r>
              <a:rPr lang="en-GB" dirty="0"/>
              <a:t>•Wrong option card gives a short </a:t>
            </a:r>
            <a:r>
              <a:rPr lang="en-GB" b="1" dirty="0"/>
              <a:t>shake/wiggle animation</a:t>
            </a:r>
            <a:r>
              <a:rPr lang="en-GB" dirty="0"/>
              <a:t>.</a:t>
            </a:r>
          </a:p>
          <a:p>
            <a:r>
              <a:rPr lang="en-GB" dirty="0"/>
              <a:t>•Option returns to its original position.</a:t>
            </a:r>
          </a:p>
          <a:p>
            <a:r>
              <a:rPr lang="en-GB" dirty="0"/>
              <a:t>•No hand nudge.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सोचिए</a:t>
            </a:r>
            <a:r>
              <a:rPr lang="en-GB" b="1" dirty="0"/>
              <a:t>। </a:t>
            </a:r>
            <a:r>
              <a:rPr lang="en-GB" b="1" dirty="0" err="1"/>
              <a:t>कौन-सा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करेगा</a:t>
            </a:r>
            <a:r>
              <a:rPr lang="en-GB" b="1" dirty="0"/>
              <a:t>?”</a:t>
            </a:r>
            <a:endParaRPr lang="en-GB" dirty="0"/>
          </a:p>
          <a:p>
            <a:r>
              <a:rPr lang="en-GB" b="1" dirty="0"/>
              <a:t>On 2nd Wrong Attempt</a:t>
            </a:r>
            <a:endParaRPr lang="en-GB" dirty="0"/>
          </a:p>
          <a:p>
            <a:r>
              <a:rPr lang="en-GB" dirty="0"/>
              <a:t>•Wrong option shakes again.</a:t>
            </a:r>
          </a:p>
          <a:p>
            <a:r>
              <a:rPr lang="en-GB" dirty="0"/>
              <a:t>•Option returns to its original position.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ध्यान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</a:t>
            </a:r>
            <a:r>
              <a:rPr lang="en-GB" b="1" dirty="0"/>
              <a:t>hand nudge on the correct option (</a:t>
            </a:r>
            <a:r>
              <a:rPr lang="en-GB" b="1" dirty="0" err="1"/>
              <a:t>फूल</a:t>
            </a:r>
            <a:r>
              <a:rPr lang="en-GB" b="1" dirty="0"/>
              <a:t>)</a:t>
            </a:r>
            <a:r>
              <a:rPr lang="en-GB" dirty="0"/>
              <a:t>.</a:t>
            </a:r>
          </a:p>
          <a:p>
            <a:r>
              <a:rPr lang="en-GB" dirty="0"/>
              <a:t>•Correct option gives a soft pulse/glow.</a:t>
            </a:r>
          </a:p>
          <a:p>
            <a:r>
              <a:rPr lang="en-GB" b="1" dirty="0"/>
              <a:t>Correct Answer on 3rd Attempt</a:t>
            </a:r>
            <a:endParaRPr lang="en-GB" dirty="0"/>
          </a:p>
          <a:p>
            <a:r>
              <a:rPr lang="en-GB" dirty="0"/>
              <a:t>•Correct option snaps into the sentence.</a:t>
            </a:r>
          </a:p>
          <a:p>
            <a:r>
              <a:rPr lang="en-GB" dirty="0"/>
              <a:t>•Sentence completes.</a:t>
            </a:r>
          </a:p>
          <a:p>
            <a:r>
              <a:rPr lang="en-GB" dirty="0"/>
              <a:t>•Small sparkle/confetti appears.</a:t>
            </a:r>
          </a:p>
          <a:p>
            <a:r>
              <a:rPr lang="en-GB" dirty="0"/>
              <a:t>•</a:t>
            </a:r>
            <a:r>
              <a:rPr lang="en-GB" b="1" dirty="0"/>
              <a:t>No additional VO required.</a:t>
            </a:r>
            <a:endParaRPr lang="en-GB" dirty="0"/>
          </a:p>
          <a:p>
            <a:r>
              <a:rPr lang="en-GB" b="1" dirty="0"/>
              <a:t>Completion</a:t>
            </a:r>
            <a:endParaRPr lang="en-GB" dirty="0"/>
          </a:p>
          <a:p>
            <a:r>
              <a:rPr lang="en-GB" dirty="0"/>
              <a:t>After the correct answer:</a:t>
            </a:r>
          </a:p>
          <a:p>
            <a:r>
              <a:rPr lang="en-GB" dirty="0"/>
              <a:t>•Next button becomes active.</a:t>
            </a:r>
          </a:p>
          <a:p>
            <a:r>
              <a:rPr lang="en-GB" dirty="0"/>
              <a:t>•No extra completion VO required.</a:t>
            </a:r>
          </a:p>
          <a:p>
            <a:r>
              <a:rPr lang="en-GB" b="1" dirty="0"/>
              <a:t>Animation</a:t>
            </a:r>
            <a:endParaRPr lang="en-GB" dirty="0"/>
          </a:p>
          <a:p>
            <a:r>
              <a:rPr lang="en-GB" dirty="0"/>
              <a:t>•Picture appears first.</a:t>
            </a:r>
          </a:p>
          <a:p>
            <a:r>
              <a:rPr lang="en-GB" dirty="0"/>
              <a:t>•Sentence box appears with the blank space.</a:t>
            </a:r>
          </a:p>
          <a:p>
            <a:r>
              <a:rPr lang="en-GB" dirty="0"/>
              <a:t>•Options slide/fade in one by one.</a:t>
            </a:r>
          </a:p>
          <a:p>
            <a:r>
              <a:rPr lang="en-GB" dirty="0"/>
              <a:t>•When the correct option is selected, the word smoothly moves into the blank space.</a:t>
            </a:r>
          </a:p>
          <a:p>
            <a:r>
              <a:rPr lang="en-GB" dirty="0"/>
              <a:t>•Keep animation subtle and child-friendly.</a:t>
            </a:r>
          </a:p>
          <a:p>
            <a:r>
              <a:rPr lang="en-GB" b="1" dirty="0"/>
              <a:t>SFX</a:t>
            </a:r>
            <a:endParaRPr lang="en-GB" dirty="0"/>
          </a:p>
          <a:p>
            <a:r>
              <a:rPr lang="en-GB" dirty="0"/>
              <a:t>•Soft pop sound when picture/sentence appears.</a:t>
            </a:r>
          </a:p>
          <a:p>
            <a:r>
              <a:rPr lang="en-GB" dirty="0"/>
              <a:t>•Light tap sound on option selection.</a:t>
            </a:r>
          </a:p>
          <a:p>
            <a:r>
              <a:rPr lang="en-GB" dirty="0"/>
              <a:t>•Soft shake/error sound on wrong attempt.</a:t>
            </a:r>
          </a:p>
          <a:p>
            <a:r>
              <a:rPr lang="en-GB" dirty="0"/>
              <a:t>•Light success chime on correct answer.</a:t>
            </a:r>
          </a:p>
          <a:p>
            <a:r>
              <a:rPr lang="en-GB" b="1" dirty="0"/>
              <a:t>Developer Note</a:t>
            </a:r>
            <a:endParaRPr lang="en-GB" dirty="0"/>
          </a:p>
          <a:p>
            <a:r>
              <a:rPr lang="en-GB" dirty="0"/>
              <a:t>•Keep the activity </a:t>
            </a:r>
            <a:r>
              <a:rPr lang="en-GB" b="1" dirty="0"/>
              <a:t>VO-led</a:t>
            </a:r>
            <a:r>
              <a:rPr lang="en-GB" dirty="0"/>
              <a:t>.</a:t>
            </a:r>
          </a:p>
          <a:p>
            <a:r>
              <a:rPr lang="en-GB" dirty="0"/>
              <a:t>•Do not show extra explanation text.</a:t>
            </a:r>
          </a:p>
          <a:p>
            <a:r>
              <a:rPr lang="en-GB" dirty="0"/>
              <a:t>•The child should learn through:</a:t>
            </a:r>
          </a:p>
          <a:p>
            <a:r>
              <a:rPr lang="en-GB" b="1" dirty="0"/>
              <a:t>Picture → Sentence meaning → Correct word selection</a:t>
            </a:r>
            <a:endParaRPr lang="en-GB" dirty="0"/>
          </a:p>
          <a:p>
            <a:r>
              <a:rPr lang="en-GB" dirty="0"/>
              <a:t>•Keep options visually supported with pictures so the child can understand the word independently.</a:t>
            </a:r>
          </a:p>
          <a:p>
            <a:r>
              <a:rPr lang="en-GB" dirty="0"/>
              <a:t>•Use respectful language throughout: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सोचिए</a:t>
            </a:r>
            <a:r>
              <a:rPr lang="en-GB" b="1" dirty="0"/>
              <a:t>, </a:t>
            </a:r>
            <a:r>
              <a:rPr lang="en-GB" b="1" dirty="0" err="1"/>
              <a:t>देखिए</a:t>
            </a:r>
            <a:r>
              <a:rPr lang="en-GB" b="1" dirty="0"/>
              <a:t>, </a:t>
            </a:r>
            <a:r>
              <a:rPr lang="en-GB" b="1" dirty="0" err="1"/>
              <a:t>चुनिए</a:t>
            </a:r>
            <a:r>
              <a:rPr lang="en-GB" b="1" dirty="0"/>
              <a:t>”</a:t>
            </a:r>
            <a:r>
              <a:rPr lang="en-GB" dirty="0"/>
              <a:t> instead of </a:t>
            </a:r>
            <a:r>
              <a:rPr lang="en-GB" b="1" dirty="0"/>
              <a:t>“</a:t>
            </a:r>
            <a:r>
              <a:rPr lang="en-GB" b="1" dirty="0" err="1"/>
              <a:t>सोचो</a:t>
            </a:r>
            <a:r>
              <a:rPr lang="en-GB" b="1" dirty="0"/>
              <a:t>, </a:t>
            </a:r>
            <a:r>
              <a:rPr lang="en-GB" b="1" dirty="0" err="1"/>
              <a:t>देखो</a:t>
            </a:r>
            <a:r>
              <a:rPr lang="en-GB" b="1" dirty="0"/>
              <a:t>, </a:t>
            </a:r>
            <a:r>
              <a:rPr lang="en-GB" b="1" dirty="0" err="1"/>
              <a:t>चुनो</a:t>
            </a:r>
            <a:r>
              <a:rPr lang="en-GB" b="1" dirty="0"/>
              <a:t>”</a:t>
            </a:r>
            <a:r>
              <a:rPr lang="en-GB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6455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Activity Concept</a:t>
            </a:r>
            <a:endParaRPr lang="en-GB" dirty="0"/>
          </a:p>
          <a:p>
            <a:r>
              <a:rPr lang="en-GB" dirty="0"/>
              <a:t>•This activity will be a </a:t>
            </a:r>
            <a:r>
              <a:rPr lang="en-GB" b="1" dirty="0"/>
              <a:t>sentence completion activity</a:t>
            </a:r>
            <a:r>
              <a:rPr lang="en-GB" dirty="0"/>
              <a:t>.</a:t>
            </a:r>
          </a:p>
          <a:p>
            <a:r>
              <a:rPr lang="en-GB" dirty="0"/>
              <a:t>•The child will observe the picture, understand the situation, read/listen to the sentence, and select the correct word to complete the sentence.</a:t>
            </a:r>
          </a:p>
          <a:p>
            <a:r>
              <a:rPr lang="en-GB" dirty="0"/>
              <a:t>•The focus should be on helping the child identify and use </a:t>
            </a:r>
            <a:r>
              <a:rPr lang="en-GB" b="1" dirty="0"/>
              <a:t>ऊ (ू)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dirty="0"/>
              <a:t> in meaningful sentences.</a:t>
            </a:r>
          </a:p>
          <a:p>
            <a:r>
              <a:rPr lang="en-GB" b="1" dirty="0"/>
              <a:t>On Screen</a:t>
            </a:r>
            <a:endParaRPr lang="en-GB" dirty="0"/>
          </a:p>
          <a:p>
            <a:r>
              <a:rPr lang="en-GB" dirty="0"/>
              <a:t>•Keep the heading at the top:</a:t>
            </a:r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one picture-based sentence activity at a time.</a:t>
            </a:r>
          </a:p>
          <a:p>
            <a:r>
              <a:rPr lang="en-GB" dirty="0"/>
              <a:t>•Keep the picture on one side and the sentence completion area on the other side.</a:t>
            </a:r>
          </a:p>
          <a:p>
            <a:r>
              <a:rPr lang="en-GB" dirty="0"/>
              <a:t>•Sentence:</a:t>
            </a:r>
          </a:p>
          <a:p>
            <a:r>
              <a:rPr lang="en-GB" b="1" dirty="0"/>
              <a:t>“</a:t>
            </a:r>
            <a:r>
              <a:rPr lang="hi-IN" b="1" dirty="0"/>
              <a:t>मीठा</a:t>
            </a:r>
            <a:r>
              <a:rPr lang="en-GB" b="1" dirty="0"/>
              <a:t>______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a blank space for the missing word.</a:t>
            </a:r>
          </a:p>
          <a:p>
            <a:r>
              <a:rPr lang="en-GB" dirty="0"/>
              <a:t>•Below the sentence, show three picture options:</a:t>
            </a:r>
          </a:p>
          <a:p>
            <a:r>
              <a:rPr lang="en-GB" dirty="0"/>
              <a:t>•🍉 </a:t>
            </a:r>
            <a:r>
              <a:rPr lang="en-GB" b="1" dirty="0" err="1"/>
              <a:t>तरबूज</a:t>
            </a:r>
            <a:r>
              <a:rPr lang="en-GB" dirty="0"/>
              <a:t> ✅</a:t>
            </a:r>
          </a:p>
          <a:p>
            <a:r>
              <a:rPr lang="en-GB" dirty="0"/>
              <a:t>•🌸 </a:t>
            </a:r>
            <a:r>
              <a:rPr lang="en-GB" b="1" dirty="0" err="1"/>
              <a:t>फूल</a:t>
            </a:r>
            <a:endParaRPr lang="en-GB" dirty="0"/>
          </a:p>
          <a:p>
            <a:r>
              <a:rPr lang="en-GB" dirty="0"/>
              <a:t>•😊 </a:t>
            </a:r>
            <a:r>
              <a:rPr lang="en-GB" b="1" dirty="0" err="1"/>
              <a:t>खुश</a:t>
            </a:r>
            <a:endParaRPr lang="en-GB" dirty="0"/>
          </a:p>
          <a:p>
            <a:r>
              <a:rPr lang="en-GB" dirty="0"/>
              <a:t>•Do not highlight the correct option before the child answers.</a:t>
            </a:r>
          </a:p>
          <a:p>
            <a:r>
              <a:rPr lang="en-GB" b="1" dirty="0"/>
              <a:t>VO</a:t>
            </a:r>
            <a:endParaRPr lang="en-GB" dirty="0"/>
          </a:p>
          <a:p>
            <a:r>
              <a:rPr lang="en-GB" dirty="0"/>
              <a:t>Instruction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When an option is tapped, play the word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तरबूज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फूल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खुश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dirty="0"/>
              <a:t>This will help the child listen to the word, understand the sentence meaning, and identify the correct word.</a:t>
            </a:r>
          </a:p>
          <a:p>
            <a:r>
              <a:rPr lang="en-GB" b="1" dirty="0"/>
              <a:t>Correct Answer</a:t>
            </a:r>
            <a:endParaRPr lang="en-GB" dirty="0"/>
          </a:p>
          <a:p>
            <a:r>
              <a:rPr lang="en-GB" dirty="0"/>
              <a:t>Correct answer:</a:t>
            </a:r>
          </a:p>
          <a:p>
            <a:r>
              <a:rPr lang="en-GB" b="1" dirty="0" err="1"/>
              <a:t>तरबूज</a:t>
            </a:r>
            <a:endParaRPr lang="en-GB" dirty="0"/>
          </a:p>
          <a:p>
            <a:r>
              <a:rPr lang="en-GB" dirty="0"/>
              <a:t>When the child selects the correct option:</a:t>
            </a:r>
          </a:p>
          <a:p>
            <a:r>
              <a:rPr lang="en-GB" dirty="0"/>
              <a:t>•The option card snaps into the blank space.</a:t>
            </a:r>
          </a:p>
          <a:p>
            <a:r>
              <a:rPr lang="en-GB" dirty="0"/>
              <a:t>•The sentence becomes complete:</a:t>
            </a:r>
          </a:p>
          <a:p>
            <a:r>
              <a:rPr lang="en-GB" b="1" dirty="0"/>
              <a:t>“</a:t>
            </a:r>
            <a:r>
              <a:rPr lang="hi-IN" b="1" dirty="0"/>
              <a:t>मीठा </a:t>
            </a:r>
            <a:r>
              <a:rPr lang="en-GB" b="1" dirty="0" err="1"/>
              <a:t>तरबूज</a:t>
            </a:r>
            <a:r>
              <a:rPr lang="en-GB" b="1" dirty="0"/>
              <a:t>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small </a:t>
            </a:r>
            <a:r>
              <a:rPr lang="en-GB" b="1" dirty="0"/>
              <a:t>sparkle/confetti animation</a:t>
            </a:r>
            <a:r>
              <a:rPr lang="en-GB" dirty="0"/>
              <a:t>.</a:t>
            </a:r>
          </a:p>
          <a:p>
            <a:r>
              <a:rPr lang="en-GB" dirty="0"/>
              <a:t>•Correct option gets a soft glow/highlight.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मीठा</a:t>
            </a:r>
            <a:r>
              <a:rPr lang="en-GB" b="1" dirty="0"/>
              <a:t> </a:t>
            </a:r>
            <a:r>
              <a:rPr lang="en-GB" b="1" dirty="0" err="1"/>
              <a:t>तरबूज</a:t>
            </a:r>
            <a:r>
              <a:rPr lang="en-GB" b="1" dirty="0"/>
              <a:t>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1st Wrong Attempt</a:t>
            </a:r>
            <a:endParaRPr lang="en-GB" dirty="0"/>
          </a:p>
          <a:p>
            <a:r>
              <a:rPr lang="en-GB" dirty="0"/>
              <a:t>•Wrong option card gives a short </a:t>
            </a:r>
            <a:r>
              <a:rPr lang="en-GB" b="1" dirty="0"/>
              <a:t>shake/wiggle animation</a:t>
            </a:r>
            <a:r>
              <a:rPr lang="en-GB" dirty="0"/>
              <a:t>.</a:t>
            </a:r>
          </a:p>
          <a:p>
            <a:r>
              <a:rPr lang="en-GB" dirty="0"/>
              <a:t>•Option returns to its original position.</a:t>
            </a:r>
          </a:p>
          <a:p>
            <a:r>
              <a:rPr lang="en-GB" dirty="0"/>
              <a:t>•No hand nudge.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सोचिए</a:t>
            </a:r>
            <a:r>
              <a:rPr lang="en-GB" b="1" dirty="0"/>
              <a:t>। </a:t>
            </a:r>
            <a:r>
              <a:rPr lang="en-GB" b="1" dirty="0" err="1"/>
              <a:t>कौन-सा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करेगा</a:t>
            </a:r>
            <a:r>
              <a:rPr lang="en-GB" b="1" dirty="0"/>
              <a:t>?”</a:t>
            </a:r>
            <a:endParaRPr lang="en-GB" dirty="0"/>
          </a:p>
          <a:p>
            <a:r>
              <a:rPr lang="en-GB" b="1" dirty="0"/>
              <a:t>On 2nd Wrong Attempt</a:t>
            </a:r>
            <a:endParaRPr lang="en-GB" dirty="0"/>
          </a:p>
          <a:p>
            <a:r>
              <a:rPr lang="en-GB" dirty="0"/>
              <a:t>•Wrong option shakes again.</a:t>
            </a:r>
          </a:p>
          <a:p>
            <a:r>
              <a:rPr lang="en-GB" dirty="0"/>
              <a:t>•Option returns to its original position.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ध्यान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•Show </a:t>
            </a:r>
            <a:r>
              <a:rPr lang="en-GB" b="1" dirty="0"/>
              <a:t>hand nudge on the correct option (</a:t>
            </a:r>
            <a:r>
              <a:rPr lang="en-GB" b="1" dirty="0" err="1"/>
              <a:t>तरबूज</a:t>
            </a:r>
            <a:r>
              <a:rPr lang="en-GB" b="1" dirty="0"/>
              <a:t>)</a:t>
            </a:r>
            <a:r>
              <a:rPr lang="en-GB" dirty="0"/>
              <a:t>.</a:t>
            </a:r>
          </a:p>
          <a:p>
            <a:r>
              <a:rPr lang="en-GB" dirty="0"/>
              <a:t>•Correct option gives a soft pulse/glow.</a:t>
            </a:r>
          </a:p>
          <a:p>
            <a:r>
              <a:rPr lang="en-GB" b="1" dirty="0"/>
              <a:t>Correct Answer on 3rd Attempt</a:t>
            </a:r>
            <a:endParaRPr lang="en-GB" dirty="0"/>
          </a:p>
          <a:p>
            <a:r>
              <a:rPr lang="en-GB" dirty="0"/>
              <a:t>•Correct option snaps into the sentence.</a:t>
            </a:r>
          </a:p>
          <a:p>
            <a:r>
              <a:rPr lang="en-GB" dirty="0"/>
              <a:t>•Sentence completes.</a:t>
            </a:r>
          </a:p>
          <a:p>
            <a:r>
              <a:rPr lang="en-GB" dirty="0"/>
              <a:t>•Small sparkle/confetti appears.</a:t>
            </a:r>
          </a:p>
          <a:p>
            <a:r>
              <a:rPr lang="en-GB" dirty="0"/>
              <a:t>•</a:t>
            </a:r>
            <a:r>
              <a:rPr lang="en-GB" b="1" dirty="0"/>
              <a:t>No additional VO required.</a:t>
            </a:r>
            <a:endParaRPr lang="en-GB" dirty="0"/>
          </a:p>
          <a:p>
            <a:r>
              <a:rPr lang="en-GB" b="1" dirty="0"/>
              <a:t>Completion</a:t>
            </a:r>
            <a:endParaRPr lang="en-GB" dirty="0"/>
          </a:p>
          <a:p>
            <a:r>
              <a:rPr lang="en-GB" dirty="0"/>
              <a:t>After the correct answer:</a:t>
            </a:r>
          </a:p>
          <a:p>
            <a:r>
              <a:rPr lang="en-GB" dirty="0"/>
              <a:t>•Next button becomes active.</a:t>
            </a:r>
          </a:p>
          <a:p>
            <a:r>
              <a:rPr lang="en-GB" dirty="0"/>
              <a:t>•No extra completion VO required.</a:t>
            </a:r>
          </a:p>
          <a:p>
            <a:r>
              <a:rPr lang="en-GB" b="1" dirty="0"/>
              <a:t>Animation</a:t>
            </a:r>
            <a:endParaRPr lang="en-GB" dirty="0"/>
          </a:p>
          <a:p>
            <a:r>
              <a:rPr lang="en-GB" dirty="0"/>
              <a:t>•Picture appears first.</a:t>
            </a:r>
          </a:p>
          <a:p>
            <a:r>
              <a:rPr lang="en-GB" dirty="0"/>
              <a:t>•Sentence box appears with the blank space.</a:t>
            </a:r>
          </a:p>
          <a:p>
            <a:r>
              <a:rPr lang="en-GB" dirty="0"/>
              <a:t>•Options slide/fade in one by one.</a:t>
            </a:r>
          </a:p>
          <a:p>
            <a:r>
              <a:rPr lang="en-GB" dirty="0"/>
              <a:t>•When the correct option is selected, the word smoothly moves into the blank space.</a:t>
            </a:r>
          </a:p>
          <a:p>
            <a:r>
              <a:rPr lang="en-GB" dirty="0"/>
              <a:t>•Keep animation subtle and child-friendly.</a:t>
            </a:r>
          </a:p>
          <a:p>
            <a:r>
              <a:rPr lang="en-GB" b="1" dirty="0"/>
              <a:t>SFX</a:t>
            </a:r>
            <a:endParaRPr lang="en-GB" dirty="0"/>
          </a:p>
          <a:p>
            <a:r>
              <a:rPr lang="en-GB" dirty="0"/>
              <a:t>•Soft pop sound when picture/sentence appears.</a:t>
            </a:r>
          </a:p>
          <a:p>
            <a:r>
              <a:rPr lang="en-GB" dirty="0"/>
              <a:t>•Light tap sound on option selection.</a:t>
            </a:r>
          </a:p>
          <a:p>
            <a:r>
              <a:rPr lang="en-GB" dirty="0"/>
              <a:t>•Soft shake/error sound on wrong attempt.</a:t>
            </a:r>
          </a:p>
          <a:p>
            <a:r>
              <a:rPr lang="en-GB" dirty="0"/>
              <a:t>•Light success chime on correct answer.</a:t>
            </a:r>
          </a:p>
          <a:p>
            <a:r>
              <a:rPr lang="en-GB" b="1" dirty="0"/>
              <a:t>Developer Note</a:t>
            </a:r>
            <a:endParaRPr lang="en-GB" dirty="0"/>
          </a:p>
          <a:p>
            <a:r>
              <a:rPr lang="en-GB" dirty="0"/>
              <a:t>•Keep the activity </a:t>
            </a:r>
            <a:r>
              <a:rPr lang="en-GB" b="1" dirty="0"/>
              <a:t>VO-led</a:t>
            </a:r>
            <a:r>
              <a:rPr lang="en-GB" dirty="0"/>
              <a:t>.</a:t>
            </a:r>
          </a:p>
          <a:p>
            <a:r>
              <a:rPr lang="en-GB" dirty="0"/>
              <a:t>•Do not show extra explanation text.</a:t>
            </a:r>
          </a:p>
          <a:p>
            <a:r>
              <a:rPr lang="en-GB" dirty="0"/>
              <a:t>•The child should learn through:</a:t>
            </a:r>
          </a:p>
          <a:p>
            <a:r>
              <a:rPr lang="en-GB" b="1" dirty="0"/>
              <a:t>Picture → Sentence meaning → Correct word selection</a:t>
            </a:r>
            <a:endParaRPr lang="en-GB" dirty="0"/>
          </a:p>
          <a:p>
            <a:r>
              <a:rPr lang="en-GB" dirty="0"/>
              <a:t>•Keep options visually supported with pictures so the child can understand the word independently.</a:t>
            </a:r>
          </a:p>
          <a:p>
            <a:r>
              <a:rPr lang="en-GB" dirty="0"/>
              <a:t>•Use respectful language throughout: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सोचिए</a:t>
            </a:r>
            <a:r>
              <a:rPr lang="en-GB" b="1" dirty="0"/>
              <a:t>, </a:t>
            </a:r>
            <a:r>
              <a:rPr lang="en-GB" b="1" dirty="0" err="1"/>
              <a:t>देखिए</a:t>
            </a:r>
            <a:r>
              <a:rPr lang="en-GB" b="1" dirty="0"/>
              <a:t>, </a:t>
            </a:r>
            <a:r>
              <a:rPr lang="en-GB" b="1" dirty="0" err="1"/>
              <a:t>चुनिए</a:t>
            </a:r>
            <a:r>
              <a:rPr lang="en-GB" b="1" dirty="0"/>
              <a:t>”</a:t>
            </a:r>
            <a:r>
              <a:rPr lang="en-GB" dirty="0"/>
              <a:t> instead of </a:t>
            </a:r>
            <a:r>
              <a:rPr lang="en-GB" b="1" dirty="0"/>
              <a:t>“</a:t>
            </a:r>
            <a:r>
              <a:rPr lang="en-GB" b="1" dirty="0" err="1"/>
              <a:t>सोचो</a:t>
            </a:r>
            <a:r>
              <a:rPr lang="en-GB" b="1" dirty="0"/>
              <a:t>, </a:t>
            </a:r>
            <a:r>
              <a:rPr lang="en-GB" b="1" dirty="0" err="1"/>
              <a:t>देखो</a:t>
            </a:r>
            <a:r>
              <a:rPr lang="en-GB" b="1" dirty="0"/>
              <a:t>, </a:t>
            </a:r>
            <a:r>
              <a:rPr lang="en-GB" b="1" dirty="0" err="1"/>
              <a:t>चुनो</a:t>
            </a:r>
            <a:r>
              <a:rPr lang="en-GB" b="1" dirty="0"/>
              <a:t>”</a:t>
            </a:r>
            <a:r>
              <a:rPr lang="en-GB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DCED4-73DA-4F7E-A464-75CC74DAD3E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666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B3D8C"/>
                </a:solidFill>
              </a:rPr>
              <a:t>HI02H11_L02_S02 · मात्राओं की रेल · उ / ऊ — round 2</a:t>
            </a:r>
          </a:p>
          <a:p>
            <a:pPr algn="ctr"/>
            <a:r>
              <a:rPr sz="1800">
                <a:solidFill>
                  <a:srgbClr val="5A6678"/>
                </a:solidFill>
              </a:rPr>
              <a:t>Page-by-page review · 17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 · 01_landing.png</a:t>
            </a:r>
          </a:p>
        </p:txBody>
      </p:sp>
      <p:pic>
        <p:nvPicPr>
          <p:cNvPr id="3" name="Picture 2" descr="01_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pic>
        <p:nvPicPr>
          <p:cNvPr id="6" name="Picture 5" descr="A cartoon train with colorful boxes&#10;&#10;Description automatically generated">
            <a:extLst>
              <a:ext uri="{FF2B5EF4-FFF2-40B4-BE49-F238E27FC236}">
                <a16:creationId xmlns:a16="http://schemas.microsoft.com/office/drawing/2014/main" id="{F05990CE-FF1D-5C7A-547A-8BDAB45D2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119" y="3315591"/>
            <a:ext cx="6092761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 · 02_MATRA_INTRO.png</a:t>
            </a:r>
          </a:p>
        </p:txBody>
      </p:sp>
      <p:pic>
        <p:nvPicPr>
          <p:cNvPr id="3" name="Picture 2" descr="02_MATRA_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3 · 03_MATRA_BUILD.png</a:t>
            </a:r>
          </a:p>
        </p:txBody>
      </p:sp>
      <p:pic>
        <p:nvPicPr>
          <p:cNvPr id="3" name="Picture 2" descr="03_MATRA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4 · 04_MEET_PAIR.png</a:t>
            </a:r>
          </a:p>
        </p:txBody>
      </p:sp>
      <p:pic>
        <p:nvPicPr>
          <p:cNvPr id="3" name="Picture 2" descr="04_MEET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5 · 05_MATRA_BUILD.png</a:t>
            </a:r>
          </a:p>
        </p:txBody>
      </p:sp>
      <p:pic>
        <p:nvPicPr>
          <p:cNvPr id="3" name="Picture 2" descr="05_MATRA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6 · 06_MEET_PAIR.png</a:t>
            </a:r>
          </a:p>
        </p:txBody>
      </p:sp>
      <p:pic>
        <p:nvPicPr>
          <p:cNvPr id="3" name="Picture 2" descr="06_MEET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9 · 09_TRAIN_TAP.png</a:t>
            </a:r>
          </a:p>
        </p:txBody>
      </p:sp>
      <p:pic>
        <p:nvPicPr>
          <p:cNvPr id="3" name="Picture 2" descr="09_TRAIN_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10 · 10_TRAIN_TAP.png</a:t>
            </a:r>
          </a:p>
        </p:txBody>
      </p:sp>
      <p:pic>
        <p:nvPicPr>
          <p:cNvPr id="3" name="Picture 2" descr="10_TRAIN_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11 · 11_TRAIN_TAP.png</a:t>
            </a:r>
          </a:p>
        </p:txBody>
      </p:sp>
      <p:pic>
        <p:nvPicPr>
          <p:cNvPr id="3" name="Picture 2" descr="11_TRAIN_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12 · 12_TRAIN_SORT.png</a:t>
            </a:r>
          </a:p>
        </p:txBody>
      </p:sp>
      <p:pic>
        <p:nvPicPr>
          <p:cNvPr id="3" name="Picture 2" descr="12_TRAIN_S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13 · 13_TRAIN_SORT.png</a:t>
            </a:r>
          </a:p>
        </p:txBody>
      </p:sp>
      <p:pic>
        <p:nvPicPr>
          <p:cNvPr id="3" name="Picture 2" descr="13_TRAIN_S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14 · 14_MATRA_FILL.png</a:t>
            </a:r>
          </a:p>
        </p:txBody>
      </p:sp>
      <p:pic>
        <p:nvPicPr>
          <p:cNvPr id="5" name="Picture 4" descr="A screenshot of a game&#10;&#10;Description automatically generated">
            <a:extLst>
              <a:ext uri="{FF2B5EF4-FFF2-40B4-BE49-F238E27FC236}">
                <a16:creationId xmlns:a16="http://schemas.microsoft.com/office/drawing/2014/main" id="{0ABFCBB7-E046-2C1A-91A1-D411AD220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9" y="685800"/>
            <a:ext cx="8565589" cy="4820705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15 · 15_TRAIN_SORT.png</a:t>
            </a:r>
          </a:p>
        </p:txBody>
      </p:sp>
      <p:pic>
        <p:nvPicPr>
          <p:cNvPr id="3" name="Picture 2" descr="15_TRAIN_S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16 · 16_POEM_SEARCH.png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D2718-5F3D-3A4A-79F0-9D9359709C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50000"/>
          <a:stretch/>
        </p:blipFill>
        <p:spPr>
          <a:xfrm>
            <a:off x="365760" y="533400"/>
            <a:ext cx="6126480" cy="4084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28312C-DB67-0F88-0F4D-9D0C5BFACD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b="54074"/>
          <a:stretch/>
        </p:blipFill>
        <p:spPr>
          <a:xfrm>
            <a:off x="416560" y="193039"/>
            <a:ext cx="7416800" cy="454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41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28312C-DB67-0F88-0F4D-9D0C5BFACD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t="50000"/>
          <a:stretch/>
        </p:blipFill>
        <p:spPr>
          <a:xfrm>
            <a:off x="254493" y="188649"/>
            <a:ext cx="7193872" cy="479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15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28312C-DB67-0F88-0F4D-9D0C5BFACD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673" r="50000"/>
          <a:stretch/>
        </p:blipFill>
        <p:spPr>
          <a:xfrm>
            <a:off x="224531" y="213064"/>
            <a:ext cx="6788828" cy="464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73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17 · 17_CELEBRATION.png</a:t>
            </a:r>
          </a:p>
        </p:txBody>
      </p:sp>
      <p:pic>
        <p:nvPicPr>
          <p:cNvPr id="3" name="Picture 2" descr="17_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</TotalTime>
  <Words>8368</Words>
  <Application>Microsoft Office PowerPoint</Application>
  <PresentationFormat>Widescreen</PresentationFormat>
  <Paragraphs>1090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Aamir .</cp:lastModifiedBy>
  <cp:revision>6</cp:revision>
  <dcterms:created xsi:type="dcterms:W3CDTF">2013-01-27T09:14:16Z</dcterms:created>
  <dcterms:modified xsi:type="dcterms:W3CDTF">2026-09-22T16:22:49Z</dcterms:modified>
  <cp:category/>
</cp:coreProperties>
</file>